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sldIdLst>
    <p:sldId id="256" r:id="rId2"/>
    <p:sldId id="257" r:id="rId3"/>
    <p:sldId id="271"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A5AB9D-E237-4430-A6C9-943F16EF2717}">
          <p14:sldIdLst>
            <p14:sldId id="256"/>
          </p14:sldIdLst>
        </p14:section>
        <p14:section name="Contents" id="{56E02812-E5B8-4306-90A2-2D1056274FD5}">
          <p14:sldIdLst>
            <p14:sldId id="257"/>
            <p14:sldId id="271"/>
          </p14:sldIdLst>
        </p14:section>
        <p14:section name="Context" id="{966A2C2E-B41F-4352-A993-408A811C5AC7}">
          <p14:sldIdLst>
            <p14:sldId id="259"/>
          </p14:sldIdLst>
        </p14:section>
        <p14:section name="Approach &amp; Methodology" id="{F0BAC4A7-364B-43B2-B2A5-C400F1CF928C}">
          <p14:sldIdLst>
            <p14:sldId id="260"/>
            <p14:sldId id="261"/>
            <p14:sldId id="262"/>
            <p14:sldId id="263"/>
            <p14:sldId id="264"/>
          </p14:sldIdLst>
        </p14:section>
        <p14:section name="Valuation" id="{B5CCA135-1C16-4B9C-927D-FE5C47D7691A}">
          <p14:sldIdLst>
            <p14:sldId id="265"/>
            <p14:sldId id="266"/>
          </p14:sldIdLst>
        </p14:section>
        <p14:section name="Sources &amp; Disclaimer" id="{B001C48E-CE33-4260-92FC-705D66007674}">
          <p14:sldIdLst>
            <p14:sldId id="267"/>
            <p14:sldId id="268"/>
          </p14:sldIdLst>
        </p14:section>
        <p14:section name="Conclusion" id="{B73D65A9-B866-4C33-983B-69E4DD10E8F8}">
          <p14:sldIdLst>
            <p14:sldId id="270"/>
          </p14:sldIdLst>
        </p14:section>
      </p14:sectionLst>
    </p:ext>
    <p:ext uri="{EFAFB233-063F-42B5-8137-9DF3F51BA10A}">
      <p15:sldGuideLst xmlns:p15="http://schemas.microsoft.com/office/powerpoint/2012/main">
        <p15:guide id="1" orient="horz" pos="2160" userDrawn="1">
          <p15:clr>
            <a:srgbClr val="A4A3A4"/>
          </p15:clr>
        </p15:guide>
        <p15:guide id="3"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4660"/>
  </p:normalViewPr>
  <p:slideViewPr>
    <p:cSldViewPr snapToGrid="0" showGuides="1">
      <p:cViewPr varScale="1">
        <p:scale>
          <a:sx n="68" d="100"/>
          <a:sy n="68" d="100"/>
        </p:scale>
        <p:origin x="684"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e64f284bf3325f9d/Desktop/TVS%20AVFM/S%5e0P%20500%20Index%20Valuation%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e64f284bf3325f9d/Desktop/TVS%20AVFM/S%5e0P%20500%20Index%20Valuation%20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e64f284bf3325f9d/Desktop/TVS%20AVFM/S%5e0P%20500%20Index%20Valuation%20Fin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e64f284bf3325f9d/Desktop/TVS%20AVFM/S%5e0P%20500%20Index%20Valuation%20Final.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Historical Dividends &amp; Buybacks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'[S^0P 500 Index Valuation Final.xlsx]Expected Div&amp;BB'!$E$2</c:f>
              <c:strCache>
                <c:ptCount val="1"/>
                <c:pt idx="0">
                  <c:v>Dividend</c:v>
                </c:pt>
              </c:strCache>
            </c:strRef>
          </c:tx>
          <c:spPr>
            <a:ln w="28575" cap="rnd">
              <a:solidFill>
                <a:schemeClr val="accent1"/>
              </a:solidFill>
              <a:round/>
            </a:ln>
            <a:effectLst/>
          </c:spPr>
          <c:marker>
            <c:symbol val="circle"/>
            <c:size val="5"/>
            <c:spPr>
              <a:solidFill>
                <a:schemeClr val="bg1">
                  <a:lumMod val="95000"/>
                </a:schemeClr>
              </a:solidFill>
              <a:ln w="9525">
                <a:solidFill>
                  <a:schemeClr val="accent1"/>
                </a:solidFill>
              </a:ln>
              <a:effectLst/>
            </c:spPr>
          </c:marker>
          <c:cat>
            <c:numRef>
              <c:f>'[S^0P 500 Index Valuation Final.xlsx]Expected Div&amp;BB'!$B$3:$B$47</c:f>
              <c:numCache>
                <c:formatCode>0</c:formatCode>
                <c:ptCount val="4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numCache>
            </c:numRef>
          </c:cat>
          <c:val>
            <c:numRef>
              <c:f>'[S^0P 500 Index Valuation Final.xlsx]Expected Div&amp;BB'!$E$3:$E$47</c:f>
              <c:numCache>
                <c:formatCode>[$$-409]#,##0.00</c:formatCode>
                <c:ptCount val="45"/>
                <c:pt idx="0">
                  <c:v>6.0086739999999992</c:v>
                </c:pt>
                <c:pt idx="1">
                  <c:v>6.8527599999999991</c:v>
                </c:pt>
                <c:pt idx="2">
                  <c:v>5.9291466666666661</c:v>
                </c:pt>
                <c:pt idx="3">
                  <c:v>6.9294025000000001</c:v>
                </c:pt>
                <c:pt idx="4">
                  <c:v>7.3432666666666675</c:v>
                </c:pt>
                <c:pt idx="5">
                  <c:v>7.1996300000000009</c:v>
                </c:pt>
                <c:pt idx="6">
                  <c:v>7.9556475000000022</c:v>
                </c:pt>
                <c:pt idx="7">
                  <c:v>10.467599999999997</c:v>
                </c:pt>
                <c:pt idx="8">
                  <c:v>9.4621650000000006</c:v>
                </c:pt>
                <c:pt idx="9">
                  <c:v>10.344238333333333</c:v>
                </c:pt>
                <c:pt idx="10">
                  <c:v>12.24244</c:v>
                </c:pt>
                <c:pt idx="11">
                  <c:v>11.980408333333333</c:v>
                </c:pt>
                <c:pt idx="12">
                  <c:v>11.846113333333333</c:v>
                </c:pt>
                <c:pt idx="13">
                  <c:v>12.24315</c:v>
                </c:pt>
                <c:pt idx="14">
                  <c:v>13.313507500000004</c:v>
                </c:pt>
                <c:pt idx="15">
                  <c:v>12.250186666666664</c:v>
                </c:pt>
                <c:pt idx="16">
                  <c:v>13.496833333333335</c:v>
                </c:pt>
                <c:pt idx="17">
                  <c:v>14.101319166666668</c:v>
                </c:pt>
                <c:pt idx="18">
                  <c:v>14.79487333333333</c:v>
                </c:pt>
                <c:pt idx="19">
                  <c:v>15.567629999999999</c:v>
                </c:pt>
                <c:pt idx="20">
                  <c:v>17.320746666666672</c:v>
                </c:pt>
                <c:pt idx="21">
                  <c:v>16.244774999999997</c:v>
                </c:pt>
                <c:pt idx="22">
                  <c:v>17.695641666666667</c:v>
                </c:pt>
                <c:pt idx="23">
                  <c:v>15.583592500000004</c:v>
                </c:pt>
                <c:pt idx="24">
                  <c:v>18.369990000000001</c:v>
                </c:pt>
                <c:pt idx="25">
                  <c:v>21.256693333333335</c:v>
                </c:pt>
                <c:pt idx="26">
                  <c:v>23.202080000000002</c:v>
                </c:pt>
                <c:pt idx="27">
                  <c:v>27.640469999999997</c:v>
                </c:pt>
                <c:pt idx="28">
                  <c:v>39.251498333333338</c:v>
                </c:pt>
                <c:pt idx="29">
                  <c:v>19.160036666666667</c:v>
                </c:pt>
                <c:pt idx="30">
                  <c:v>20.691352500000001</c:v>
                </c:pt>
                <c:pt idx="31">
                  <c:v>27.279975</c:v>
                </c:pt>
                <c:pt idx="32">
                  <c:v>30.503366666666665</c:v>
                </c:pt>
                <c:pt idx="33">
                  <c:v>32.054458333333336</c:v>
                </c:pt>
                <c:pt idx="34">
                  <c:v>37.332767999999994</c:v>
                </c:pt>
                <c:pt idx="35">
                  <c:v>43.295705416666671</c:v>
                </c:pt>
                <c:pt idx="36">
                  <c:v>42.748315166666664</c:v>
                </c:pt>
                <c:pt idx="37">
                  <c:v>45.359680000000004</c:v>
                </c:pt>
                <c:pt idx="38">
                  <c:v>57.232472916666644</c:v>
                </c:pt>
                <c:pt idx="39">
                  <c:v>53.764698500000002</c:v>
                </c:pt>
                <c:pt idx="40">
                  <c:v>50.827875833333337</c:v>
                </c:pt>
                <c:pt idx="41">
                  <c:v>55.1959825</c:v>
                </c:pt>
                <c:pt idx="42">
                  <c:v>69.727900500000004</c:v>
                </c:pt>
                <c:pt idx="43">
                  <c:v>64.839812499999994</c:v>
                </c:pt>
                <c:pt idx="44">
                  <c:v>67.869125249999996</c:v>
                </c:pt>
              </c:numCache>
            </c:numRef>
          </c:val>
          <c:smooth val="1"/>
          <c:extLst>
            <c:ext xmlns:c16="http://schemas.microsoft.com/office/drawing/2014/chart" uri="{C3380CC4-5D6E-409C-BE32-E72D297353CC}">
              <c16:uniqueId val="{00000000-FFF6-4632-AC26-054B62ED24E9}"/>
            </c:ext>
          </c:extLst>
        </c:ser>
        <c:ser>
          <c:idx val="1"/>
          <c:order val="1"/>
          <c:tx>
            <c:strRef>
              <c:f>'[S^0P 500 Index Valuation Final.xlsx]Expected Div&amp;BB'!$F$2</c:f>
              <c:strCache>
                <c:ptCount val="1"/>
                <c:pt idx="0">
                  <c:v>Buyback Amount</c:v>
                </c:pt>
              </c:strCache>
            </c:strRef>
          </c:tx>
          <c:spPr>
            <a:ln w="28575" cap="rnd">
              <a:solidFill>
                <a:schemeClr val="bg2">
                  <a:lumMod val="50000"/>
                </a:schemeClr>
              </a:solidFill>
              <a:round/>
            </a:ln>
            <a:effectLst/>
          </c:spPr>
          <c:marker>
            <c:symbol val="circle"/>
            <c:size val="5"/>
            <c:spPr>
              <a:solidFill>
                <a:schemeClr val="bg1">
                  <a:lumMod val="95000"/>
                </a:schemeClr>
              </a:solidFill>
              <a:ln w="9525">
                <a:solidFill>
                  <a:schemeClr val="bg2">
                    <a:lumMod val="50000"/>
                  </a:schemeClr>
                </a:solidFill>
              </a:ln>
              <a:effectLst/>
            </c:spPr>
          </c:marker>
          <c:cat>
            <c:numRef>
              <c:f>'[S^0P 500 Index Valuation Final.xlsx]Expected Div&amp;BB'!$B$3:$B$47</c:f>
              <c:numCache>
                <c:formatCode>0</c:formatCode>
                <c:ptCount val="4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numCache>
            </c:numRef>
          </c:cat>
          <c:val>
            <c:numRef>
              <c:f>'[S^0P 500 Index Valuation Final.xlsx]Expected Div&amp;BB'!$F$3:$F$47</c:f>
              <c:numCache>
                <c:formatCode>[$$-409]#,##0.00</c:formatCode>
                <c:ptCount val="45"/>
                <c:pt idx="0">
                  <c:v>7.3361266190754177</c:v>
                </c:pt>
                <c:pt idx="1">
                  <c:v>8.3666903962729986</c:v>
                </c:pt>
                <c:pt idx="2">
                  <c:v>7.2390298907438844</c:v>
                </c:pt>
                <c:pt idx="3">
                  <c:v>8.4602649660370588</c:v>
                </c:pt>
                <c:pt idx="4">
                  <c:v>8.9655611311751251</c:v>
                </c:pt>
                <c:pt idx="5">
                  <c:v>8.7901918610485392</c:v>
                </c:pt>
                <c:pt idx="6">
                  <c:v>9.713230805454053</c:v>
                </c:pt>
                <c:pt idx="7">
                  <c:v>12.780130690703778</c:v>
                </c:pt>
                <c:pt idx="8">
                  <c:v>11.552572253143333</c:v>
                </c:pt>
                <c:pt idx="9">
                  <c:v>12.629515628777167</c:v>
                </c:pt>
                <c:pt idx="10">
                  <c:v>14.94707317561806</c:v>
                </c:pt>
                <c:pt idx="11">
                  <c:v>14.62715275975359</c:v>
                </c:pt>
                <c:pt idx="12">
                  <c:v>14.46318894272695</c:v>
                </c:pt>
                <c:pt idx="13">
                  <c:v>14.947940030751081</c:v>
                </c:pt>
                <c:pt idx="14">
                  <c:v>16.254763823767149</c:v>
                </c:pt>
                <c:pt idx="15">
                  <c:v>14.956531256975515</c:v>
                </c:pt>
                <c:pt idx="16">
                  <c:v>16.47859049931667</c:v>
                </c:pt>
                <c:pt idx="17">
                  <c:v>17.21662098870096</c:v>
                </c:pt>
                <c:pt idx="18">
                  <c:v>18.063397030112753</c:v>
                </c:pt>
                <c:pt idx="19">
                  <c:v>19.006873203458376</c:v>
                </c:pt>
                <c:pt idx="20">
                  <c:v>21.147293177096177</c:v>
                </c:pt>
                <c:pt idx="21">
                  <c:v>19.833614920428513</c:v>
                </c:pt>
                <c:pt idx="22">
                  <c:v>21.605011001171547</c:v>
                </c:pt>
                <c:pt idx="23">
                  <c:v>19.026362182417298</c:v>
                </c:pt>
                <c:pt idx="24">
                  <c:v>22.428338204260918</c:v>
                </c:pt>
                <c:pt idx="25">
                  <c:v>25.952779897226854</c:v>
                </c:pt>
                <c:pt idx="26">
                  <c:v>28.327946682731898</c:v>
                </c:pt>
                <c:pt idx="27">
                  <c:v>33.746877885329695</c:v>
                </c:pt>
                <c:pt idx="28">
                  <c:v>47.923046209822857</c:v>
                </c:pt>
                <c:pt idx="29">
                  <c:v>23.392924131479656</c:v>
                </c:pt>
                <c:pt idx="30">
                  <c:v>25.262542427817305</c:v>
                </c:pt>
                <c:pt idx="31">
                  <c:v>33.306741348459234</c:v>
                </c:pt>
                <c:pt idx="32">
                  <c:v>37.242253478013808</c:v>
                </c:pt>
                <c:pt idx="33">
                  <c:v>39.136016538625753</c:v>
                </c:pt>
                <c:pt idx="34">
                  <c:v>45.58042474738469</c:v>
                </c:pt>
                <c:pt idx="35">
                  <c:v>52.860710532616039</c:v>
                </c:pt>
                <c:pt idx="36">
                  <c:v>52.192389338281423</c:v>
                </c:pt>
                <c:pt idx="37">
                  <c:v>55.380664000200866</c:v>
                </c:pt>
                <c:pt idx="38">
                  <c:v>69.876426652447975</c:v>
                </c:pt>
                <c:pt idx="39">
                  <c:v>65.642542070415914</c:v>
                </c:pt>
                <c:pt idx="40">
                  <c:v>62.056908544543589</c:v>
                </c:pt>
                <c:pt idx="41">
                  <c:v>67.390029228457223</c:v>
                </c:pt>
                <c:pt idx="42">
                  <c:v>85.132378117084116</c:v>
                </c:pt>
                <c:pt idx="43">
                  <c:v>79.164400407995018</c:v>
                </c:pt>
                <c:pt idx="44">
                  <c:v>82.862957178220796</c:v>
                </c:pt>
              </c:numCache>
            </c:numRef>
          </c:val>
          <c:smooth val="1"/>
          <c:extLst>
            <c:ext xmlns:c16="http://schemas.microsoft.com/office/drawing/2014/chart" uri="{C3380CC4-5D6E-409C-BE32-E72D297353CC}">
              <c16:uniqueId val="{00000001-FFF6-4632-AC26-054B62ED24E9}"/>
            </c:ext>
          </c:extLst>
        </c:ser>
        <c:dLbls>
          <c:showLegendKey val="0"/>
          <c:showVal val="0"/>
          <c:showCatName val="0"/>
          <c:showSerName val="0"/>
          <c:showPercent val="0"/>
          <c:showBubbleSize val="0"/>
        </c:dLbls>
        <c:marker val="1"/>
        <c:smooth val="0"/>
        <c:axId val="1140376591"/>
        <c:axId val="1140402511"/>
      </c:lineChart>
      <c:catAx>
        <c:axId val="1140376591"/>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18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0402511"/>
        <c:crosses val="autoZero"/>
        <c:auto val="1"/>
        <c:lblAlgn val="ctr"/>
        <c:lblOffset val="100"/>
        <c:noMultiLvlLbl val="0"/>
      </c:catAx>
      <c:valAx>
        <c:axId val="1140402511"/>
        <c:scaling>
          <c:orientation val="minMax"/>
          <c:max val="90"/>
          <c:min val="0"/>
        </c:scaling>
        <c:delete val="0"/>
        <c:axPos val="l"/>
        <c:majorGridlines>
          <c:spPr>
            <a:ln w="9525" cap="flat" cmpd="sng" algn="ctr">
              <a:solidFill>
                <a:schemeClr val="bg1">
                  <a:lumMod val="95000"/>
                </a:schemeClr>
              </a:solidFill>
              <a:round/>
            </a:ln>
            <a:effectLst/>
          </c:spPr>
        </c:majorGridlines>
        <c:numFmt formatCode="[$$-4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0376591"/>
        <c:crosses val="autoZero"/>
        <c:crossBetween val="between"/>
        <c:majorUnit val="8"/>
        <c:min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S&amp;P 500</a:t>
            </a:r>
            <a:r>
              <a:rPr lang="en-US" baseline="0"/>
              <a:t> EPS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'[S^0P 500 Index Valuation Final.xlsx]S&amp;P EPS Growth'!$E$2</c:f>
              <c:strCache>
                <c:ptCount val="1"/>
                <c:pt idx="0">
                  <c:v>S&amp;P EPS</c:v>
                </c:pt>
              </c:strCache>
            </c:strRef>
          </c:tx>
          <c:spPr>
            <a:ln w="28575" cap="rnd">
              <a:solidFill>
                <a:schemeClr val="accent1"/>
              </a:solidFill>
              <a:round/>
            </a:ln>
            <a:effectLst/>
          </c:spPr>
          <c:marker>
            <c:symbol val="circle"/>
            <c:size val="5"/>
            <c:spPr>
              <a:solidFill>
                <a:schemeClr val="accent1">
                  <a:lumMod val="20000"/>
                  <a:lumOff val="80000"/>
                </a:schemeClr>
              </a:solidFill>
              <a:ln w="9525">
                <a:solidFill>
                  <a:schemeClr val="accent1"/>
                </a:solidFill>
              </a:ln>
              <a:effectLst/>
            </c:spPr>
          </c:marker>
          <c:cat>
            <c:numRef>
              <c:f>'[S^0P 500 Index Valuation Final.xlsx]S&amp;P EPS Growth'!$B$3:$B$47</c:f>
              <c:numCache>
                <c:formatCode>0</c:formatCode>
                <c:ptCount val="4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numCache>
            </c:numRef>
          </c:cat>
          <c:val>
            <c:numRef>
              <c:f>'[S^0P 500 Index Valuation Final.xlsx]S&amp;P EPS Growth'!$E$3:$E$47</c:f>
              <c:numCache>
                <c:formatCode>0.00</c:formatCode>
                <c:ptCount val="45"/>
                <c:pt idx="0">
                  <c:v>16.247295285720661</c:v>
                </c:pt>
                <c:pt idx="1">
                  <c:v>15.040734096055997</c:v>
                </c:pt>
                <c:pt idx="2">
                  <c:v>13.688443736247061</c:v>
                </c:pt>
                <c:pt idx="3">
                  <c:v>13.075337201784313</c:v>
                </c:pt>
                <c:pt idx="4">
                  <c:v>16.152335666355206</c:v>
                </c:pt>
                <c:pt idx="5">
                  <c:v>15.409277504941965</c:v>
                </c:pt>
                <c:pt idx="6">
                  <c:v>14.639005963037139</c:v>
                </c:pt>
                <c:pt idx="7">
                  <c:v>15.57646537685787</c:v>
                </c:pt>
                <c:pt idx="8">
                  <c:v>21.538900395140992</c:v>
                </c:pt>
                <c:pt idx="9">
                  <c:v>24.09051507487451</c:v>
                </c:pt>
                <c:pt idx="10">
                  <c:v>21.498074538074928</c:v>
                </c:pt>
                <c:pt idx="11">
                  <c:v>18.290493058321445</c:v>
                </c:pt>
                <c:pt idx="12">
                  <c:v>17.545144905006147</c:v>
                </c:pt>
                <c:pt idx="13">
                  <c:v>20.339431599344518</c:v>
                </c:pt>
                <c:pt idx="14">
                  <c:v>26.148505498986108</c:v>
                </c:pt>
                <c:pt idx="15">
                  <c:v>34.052741119569603</c:v>
                </c:pt>
                <c:pt idx="16">
                  <c:v>35.921468778694013</c:v>
                </c:pt>
                <c:pt idx="17">
                  <c:v>40.277110876157366</c:v>
                </c:pt>
                <c:pt idx="18">
                  <c:v>38.547751132650049</c:v>
                </c:pt>
                <c:pt idx="19">
                  <c:v>42.698383367130738</c:v>
                </c:pt>
                <c:pt idx="20">
                  <c:v>51.64183058601148</c:v>
                </c:pt>
                <c:pt idx="21">
                  <c:v>32.380539725726877</c:v>
                </c:pt>
                <c:pt idx="22">
                  <c:v>26.953583851933654</c:v>
                </c:pt>
                <c:pt idx="23">
                  <c:v>37.435773142779432</c:v>
                </c:pt>
                <c:pt idx="24">
                  <c:v>56.008087120947081</c:v>
                </c:pt>
                <c:pt idx="25">
                  <c:v>64.909321679405309</c:v>
                </c:pt>
                <c:pt idx="26">
                  <c:v>76.761569721598832</c:v>
                </c:pt>
                <c:pt idx="27">
                  <c:v>77.401212781332788</c:v>
                </c:pt>
                <c:pt idx="28">
                  <c:v>35.323045291911811</c:v>
                </c:pt>
                <c:pt idx="29">
                  <c:v>11.236013841909834</c:v>
                </c:pt>
                <c:pt idx="30">
                  <c:v>68.923004712006772</c:v>
                </c:pt>
                <c:pt idx="31">
                  <c:v>84.636883045363788</c:v>
                </c:pt>
                <c:pt idx="32">
                  <c:v>87.34275029239889</c:v>
                </c:pt>
                <c:pt idx="33">
                  <c:v>93.355349705302672</c:v>
                </c:pt>
                <c:pt idx="34">
                  <c:v>103.05613169713054</c:v>
                </c:pt>
                <c:pt idx="35">
                  <c:v>92.607504234878547</c:v>
                </c:pt>
                <c:pt idx="36">
                  <c:v>89.234299387258716</c:v>
                </c:pt>
                <c:pt idx="37">
                  <c:v>105.35121523344725</c:v>
                </c:pt>
                <c:pt idx="38">
                  <c:v>124.84352175308821</c:v>
                </c:pt>
                <c:pt idx="39">
                  <c:v>135.55599986158157</c:v>
                </c:pt>
                <c:pt idx="40">
                  <c:v>102.08885273491691</c:v>
                </c:pt>
                <c:pt idx="41">
                  <c:v>162.77579021952258</c:v>
                </c:pt>
                <c:pt idx="42">
                  <c:v>187.38950643334695</c:v>
                </c:pt>
                <c:pt idx="43">
                  <c:v>183.25862993004483</c:v>
                </c:pt>
                <c:pt idx="44">
                  <c:v>197.77758438822534</c:v>
                </c:pt>
              </c:numCache>
            </c:numRef>
          </c:val>
          <c:smooth val="1"/>
          <c:extLst>
            <c:ext xmlns:c16="http://schemas.microsoft.com/office/drawing/2014/chart" uri="{C3380CC4-5D6E-409C-BE32-E72D297353CC}">
              <c16:uniqueId val="{00000000-7565-4C58-8A90-590A4BFEF02E}"/>
            </c:ext>
          </c:extLst>
        </c:ser>
        <c:dLbls>
          <c:showLegendKey val="0"/>
          <c:showVal val="0"/>
          <c:showCatName val="0"/>
          <c:showSerName val="0"/>
          <c:showPercent val="0"/>
          <c:showBubbleSize val="0"/>
        </c:dLbls>
        <c:marker val="1"/>
        <c:smooth val="0"/>
        <c:axId val="422107872"/>
        <c:axId val="422108352"/>
      </c:lineChart>
      <c:catAx>
        <c:axId val="422107872"/>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18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2108352"/>
        <c:crosses val="autoZero"/>
        <c:auto val="1"/>
        <c:lblAlgn val="ctr"/>
        <c:lblOffset val="100"/>
        <c:noMultiLvlLbl val="0"/>
      </c:catAx>
      <c:valAx>
        <c:axId val="422108352"/>
        <c:scaling>
          <c:orientation val="minMax"/>
          <c:max val="210"/>
        </c:scaling>
        <c:delete val="0"/>
        <c:axPos val="l"/>
        <c:majorGridlines>
          <c:spPr>
            <a:ln w="9525" cap="flat" cmpd="sng" algn="ctr">
              <a:solidFill>
                <a:schemeClr val="bg1">
                  <a:lumMod val="9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2107872"/>
        <c:crosses val="autoZero"/>
        <c:crossBetween val="between"/>
        <c:majorUnit val="2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10 Years US Treasury Bond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'[S^0P 500 Index Valuation Final.xlsx]Rf Historical'!$J$2</c:f>
              <c:strCache>
                <c:ptCount val="1"/>
                <c:pt idx="0">
                  <c:v>10 Y Bond Average Range</c:v>
                </c:pt>
              </c:strCache>
            </c:strRef>
          </c:tx>
          <c:spPr>
            <a:ln w="28575" cap="rnd">
              <a:solidFill>
                <a:schemeClr val="accent1"/>
              </a:solidFill>
              <a:round/>
            </a:ln>
            <a:effectLst/>
          </c:spPr>
          <c:marker>
            <c:symbol val="circle"/>
            <c:size val="5"/>
            <c:spPr>
              <a:solidFill>
                <a:schemeClr val="accent1">
                  <a:lumMod val="20000"/>
                  <a:lumOff val="80000"/>
                </a:schemeClr>
              </a:solidFill>
              <a:ln w="9525">
                <a:solidFill>
                  <a:schemeClr val="accent1"/>
                </a:solidFill>
              </a:ln>
              <a:effectLst/>
            </c:spPr>
          </c:marker>
          <c:cat>
            <c:numRef>
              <c:f>'[S^0P 500 Index Valuation Final.xlsx]Rf Historical'!$I$3:$I$47</c:f>
              <c:numCache>
                <c:formatCode>0</c:formatCode>
                <c:ptCount val="4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numCache>
            </c:numRef>
          </c:cat>
          <c:val>
            <c:numRef>
              <c:f>'[S^0P 500 Index Valuation Final.xlsx]Rf Historical'!$J$3:$J$47</c:f>
              <c:numCache>
                <c:formatCode>0.00%</c:formatCode>
                <c:ptCount val="45"/>
                <c:pt idx="0">
                  <c:v>0.11988000000000001</c:v>
                </c:pt>
                <c:pt idx="1">
                  <c:v>0.14012916666666667</c:v>
                </c:pt>
                <c:pt idx="2">
                  <c:v>0.1294825</c:v>
                </c:pt>
                <c:pt idx="3">
                  <c:v>0.11136916666666664</c:v>
                </c:pt>
                <c:pt idx="4">
                  <c:v>0.12481333333333333</c:v>
                </c:pt>
                <c:pt idx="5">
                  <c:v>0.10533583333333334</c:v>
                </c:pt>
                <c:pt idx="6">
                  <c:v>7.5632500000000005E-2</c:v>
                </c:pt>
                <c:pt idx="7">
                  <c:v>8.3972500000000005E-2</c:v>
                </c:pt>
                <c:pt idx="8">
                  <c:v>8.8300833333333342E-2</c:v>
                </c:pt>
                <c:pt idx="9">
                  <c:v>8.4510833333333354E-2</c:v>
                </c:pt>
                <c:pt idx="10">
                  <c:v>8.5555833333333331E-2</c:v>
                </c:pt>
                <c:pt idx="11">
                  <c:v>7.7799166666666669E-2</c:v>
                </c:pt>
                <c:pt idx="12">
                  <c:v>7.012249999999999E-2</c:v>
                </c:pt>
                <c:pt idx="13">
                  <c:v>5.8289999999999988E-2</c:v>
                </c:pt>
                <c:pt idx="14">
                  <c:v>7.1235000000000007E-2</c:v>
                </c:pt>
                <c:pt idx="15">
                  <c:v>6.4805000000000001E-2</c:v>
                </c:pt>
                <c:pt idx="16">
                  <c:v>6.4600000000000005E-2</c:v>
                </c:pt>
                <c:pt idx="17">
                  <c:v>6.3129999999999992E-2</c:v>
                </c:pt>
                <c:pt idx="18">
                  <c:v>5.2140833333333331E-2</c:v>
                </c:pt>
                <c:pt idx="19">
                  <c:v>5.6967500000000004E-2</c:v>
                </c:pt>
                <c:pt idx="20">
                  <c:v>5.9609166666666658E-2</c:v>
                </c:pt>
                <c:pt idx="21">
                  <c:v>4.9639999999999997E-2</c:v>
                </c:pt>
                <c:pt idx="22">
                  <c:v>4.5318333333333329E-2</c:v>
                </c:pt>
                <c:pt idx="23">
                  <c:v>3.9910833333333333E-2</c:v>
                </c:pt>
                <c:pt idx="24">
                  <c:v>4.2634166666666667E-2</c:v>
                </c:pt>
                <c:pt idx="25">
                  <c:v>4.2649166666666675E-2</c:v>
                </c:pt>
                <c:pt idx="26">
                  <c:v>4.7810833333333337E-2</c:v>
                </c:pt>
                <c:pt idx="27">
                  <c:v>4.5747499999999997E-2</c:v>
                </c:pt>
                <c:pt idx="28">
                  <c:v>3.5862499999999999E-2</c:v>
                </c:pt>
                <c:pt idx="29">
                  <c:v>3.2723333333333333E-2</c:v>
                </c:pt>
                <c:pt idx="30">
                  <c:v>3.1260000000000003E-2</c:v>
                </c:pt>
                <c:pt idx="31">
                  <c:v>2.7319166666666662E-2</c:v>
                </c:pt>
                <c:pt idx="32">
                  <c:v>1.7354999999999999E-2</c:v>
                </c:pt>
                <c:pt idx="33">
                  <c:v>2.3605000000000001E-2</c:v>
                </c:pt>
                <c:pt idx="34">
                  <c:v>2.4787500000000001E-2</c:v>
                </c:pt>
                <c:pt idx="35">
                  <c:v>2.0940833333333339E-2</c:v>
                </c:pt>
                <c:pt idx="36">
                  <c:v>1.8233333333333334E-2</c:v>
                </c:pt>
                <c:pt idx="37">
                  <c:v>2.3337500000000001E-2</c:v>
                </c:pt>
                <c:pt idx="38">
                  <c:v>2.8923333333333332E-2</c:v>
                </c:pt>
                <c:pt idx="39">
                  <c:v>2.0796666666666668E-2</c:v>
                </c:pt>
                <c:pt idx="40">
                  <c:v>8.2083333333333331E-3</c:v>
                </c:pt>
                <c:pt idx="41">
                  <c:v>1.4542500000000002E-2</c:v>
                </c:pt>
                <c:pt idx="42">
                  <c:v>2.998166666666667E-2</c:v>
                </c:pt>
                <c:pt idx="43">
                  <c:v>3.9670833333333329E-2</c:v>
                </c:pt>
                <c:pt idx="44">
                  <c:v>4.2297500000000002E-2</c:v>
                </c:pt>
              </c:numCache>
            </c:numRef>
          </c:val>
          <c:smooth val="1"/>
          <c:extLst>
            <c:ext xmlns:c16="http://schemas.microsoft.com/office/drawing/2014/chart" uri="{C3380CC4-5D6E-409C-BE32-E72D297353CC}">
              <c16:uniqueId val="{00000000-8FCD-40AE-AE2F-80E147A6F589}"/>
            </c:ext>
          </c:extLst>
        </c:ser>
        <c:dLbls>
          <c:showLegendKey val="0"/>
          <c:showVal val="0"/>
          <c:showCatName val="0"/>
          <c:showSerName val="0"/>
          <c:showPercent val="0"/>
          <c:showBubbleSize val="0"/>
        </c:dLbls>
        <c:marker val="1"/>
        <c:smooth val="0"/>
        <c:axId val="919068928"/>
        <c:axId val="919066528"/>
      </c:lineChart>
      <c:catAx>
        <c:axId val="919068928"/>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18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066528"/>
        <c:crosses val="autoZero"/>
        <c:auto val="0"/>
        <c:lblAlgn val="ctr"/>
        <c:lblOffset val="100"/>
        <c:noMultiLvlLbl val="0"/>
      </c:catAx>
      <c:valAx>
        <c:axId val="919066528"/>
        <c:scaling>
          <c:orientation val="minMax"/>
          <c:max val="0.15000000000000002"/>
        </c:scaling>
        <c:delete val="0"/>
        <c:axPos val="l"/>
        <c:majorGridlines>
          <c:spPr>
            <a:ln w="9525" cap="flat" cmpd="sng" algn="ctr">
              <a:solidFill>
                <a:schemeClr val="bg1">
                  <a:lumMod val="9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0689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'[S^0P 500 Index Valuation Final.xlsx]ERP Historicals'!$C$2</c:f>
              <c:strCache>
                <c:ptCount val="1"/>
                <c:pt idx="0">
                  <c:v>Implied ERP</c:v>
                </c:pt>
              </c:strCache>
            </c:strRef>
          </c:tx>
          <c:spPr>
            <a:ln w="28575" cap="rnd">
              <a:solidFill>
                <a:schemeClr val="accent1"/>
              </a:solidFill>
              <a:round/>
            </a:ln>
            <a:effectLst/>
          </c:spPr>
          <c:marker>
            <c:symbol val="circle"/>
            <c:size val="5"/>
            <c:spPr>
              <a:solidFill>
                <a:schemeClr val="accent1">
                  <a:lumMod val="20000"/>
                  <a:lumOff val="80000"/>
                </a:schemeClr>
              </a:solidFill>
              <a:ln w="9525">
                <a:solidFill>
                  <a:schemeClr val="accent1"/>
                </a:solidFill>
              </a:ln>
              <a:effectLst/>
            </c:spPr>
          </c:marker>
          <c:cat>
            <c:numRef>
              <c:f>'[S^0P 500 Index Valuation Final.xlsx]ERP Historicals'!$B$3:$B$25</c:f>
              <c:numCache>
                <c:formatCode>General</c:formatCode>
                <c:ptCount val="2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numCache>
            </c:numRef>
          </c:cat>
          <c:val>
            <c:numRef>
              <c:f>'[S^0P 500 Index Valuation Final.xlsx]ERP Historicals'!$C$3:$C$25</c:f>
              <c:numCache>
                <c:formatCode>0.00%</c:formatCode>
                <c:ptCount val="23"/>
                <c:pt idx="0">
                  <c:v>2.5350000000000001E-2</c:v>
                </c:pt>
                <c:pt idx="1">
                  <c:v>3.6900000000000002E-2</c:v>
                </c:pt>
                <c:pt idx="2">
                  <c:v>3.4083333333333334E-2</c:v>
                </c:pt>
                <c:pt idx="3">
                  <c:v>2.4433333333333335E-2</c:v>
                </c:pt>
                <c:pt idx="4">
                  <c:v>3.6158333333333334E-2</c:v>
                </c:pt>
                <c:pt idx="5">
                  <c:v>3.6616666666666665E-2</c:v>
                </c:pt>
                <c:pt idx="6">
                  <c:v>5.6766666666666667E-2</c:v>
                </c:pt>
                <c:pt idx="7">
                  <c:v>5.7733333333333331E-2</c:v>
                </c:pt>
                <c:pt idx="8">
                  <c:v>5.3358333333333334E-2</c:v>
                </c:pt>
                <c:pt idx="9">
                  <c:v>5.7625000000000003E-2</c:v>
                </c:pt>
                <c:pt idx="10">
                  <c:v>6.2175000000000001E-2</c:v>
                </c:pt>
                <c:pt idx="11">
                  <c:v>4.9066666666666675E-2</c:v>
                </c:pt>
                <c:pt idx="12">
                  <c:v>3.9341666666666664E-2</c:v>
                </c:pt>
                <c:pt idx="13">
                  <c:v>4.3008333333333336E-2</c:v>
                </c:pt>
                <c:pt idx="14">
                  <c:v>5.4233333333333328E-2</c:v>
                </c:pt>
                <c:pt idx="15">
                  <c:v>3.7274999999999996E-2</c:v>
                </c:pt>
                <c:pt idx="16">
                  <c:v>3.8933333333333334E-2</c:v>
                </c:pt>
                <c:pt idx="17">
                  <c:v>4.2283333333333332E-2</c:v>
                </c:pt>
                <c:pt idx="18">
                  <c:v>4.7124999999999993E-2</c:v>
                </c:pt>
                <c:pt idx="19">
                  <c:v>3.1133333333333332E-2</c:v>
                </c:pt>
                <c:pt idx="20">
                  <c:v>3.4316666666666669E-2</c:v>
                </c:pt>
                <c:pt idx="21">
                  <c:v>3.0241666666666663E-2</c:v>
                </c:pt>
                <c:pt idx="22">
                  <c:v>2.4700000000000003E-2</c:v>
                </c:pt>
              </c:numCache>
            </c:numRef>
          </c:val>
          <c:smooth val="1"/>
          <c:extLst>
            <c:ext xmlns:c16="http://schemas.microsoft.com/office/drawing/2014/chart" uri="{C3380CC4-5D6E-409C-BE32-E72D297353CC}">
              <c16:uniqueId val="{00000000-1EAA-4A91-8E61-C67CCA9EE2B0}"/>
            </c:ext>
          </c:extLst>
        </c:ser>
        <c:dLbls>
          <c:showLegendKey val="0"/>
          <c:showVal val="0"/>
          <c:showCatName val="0"/>
          <c:showSerName val="0"/>
          <c:showPercent val="0"/>
          <c:showBubbleSize val="0"/>
        </c:dLbls>
        <c:marker val="1"/>
        <c:smooth val="0"/>
        <c:axId val="275084192"/>
        <c:axId val="275080832"/>
      </c:lineChart>
      <c:catAx>
        <c:axId val="27508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18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5080832"/>
        <c:crosses val="autoZero"/>
        <c:auto val="1"/>
        <c:lblAlgn val="ctr"/>
        <c:lblOffset val="100"/>
        <c:noMultiLvlLbl val="0"/>
      </c:catAx>
      <c:valAx>
        <c:axId val="275080832"/>
        <c:scaling>
          <c:orientation val="minMax"/>
          <c:max val="6.7500000000000018E-2"/>
          <c:min val="2.2500000000000006E-2"/>
        </c:scaling>
        <c:delete val="0"/>
        <c:axPos val="l"/>
        <c:majorGridlines>
          <c:spPr>
            <a:ln w="9525" cap="flat" cmpd="sng" algn="ctr">
              <a:solidFill>
                <a:schemeClr val="bg1">
                  <a:lumMod val="9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50841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1AF5-AA58-DF85-120B-FB83B6DB35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012EE1-D969-7643-7E05-F5CF1A8A2F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91F70A-0252-288C-585B-3A9B5824226E}"/>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5" name="Footer Placeholder 4">
            <a:extLst>
              <a:ext uri="{FF2B5EF4-FFF2-40B4-BE49-F238E27FC236}">
                <a16:creationId xmlns:a16="http://schemas.microsoft.com/office/drawing/2014/main" id="{1635DBE7-0754-A742-C5E0-665E9F13B8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843D9-5538-275E-FFE8-6F7B97D3F22E}"/>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3405786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48395-4F30-0A78-CA6E-06FFD6E3BF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69B978-3BA8-C79C-5B4C-CE9B675956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83A74E-3780-A424-7F44-FA795172D081}"/>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5" name="Footer Placeholder 4">
            <a:extLst>
              <a:ext uri="{FF2B5EF4-FFF2-40B4-BE49-F238E27FC236}">
                <a16:creationId xmlns:a16="http://schemas.microsoft.com/office/drawing/2014/main" id="{74FCE66D-4FDB-5731-078C-639328EA8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23E48C-19A6-9CCC-B152-EB74BD2B178E}"/>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2307619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C758E-500A-9E57-EF8C-F333967B56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0BFE5F0-9CA9-2042-9516-F9D76264F4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8C73F9-A5BD-3E79-9C9B-4854F7580346}"/>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5" name="Footer Placeholder 4">
            <a:extLst>
              <a:ext uri="{FF2B5EF4-FFF2-40B4-BE49-F238E27FC236}">
                <a16:creationId xmlns:a16="http://schemas.microsoft.com/office/drawing/2014/main" id="{C201ED5C-4000-9484-1AB7-763BD6C1C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4CEF-0A29-735E-F4FF-0A32ECE7B1BA}"/>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783360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B6D26-10F9-F11B-4D26-ECF3ECF943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ED875C-D8DB-A7FD-7A39-D8737C590E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92B43A-E059-548B-529F-165E74D66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CB7E56-1408-487F-96EB-2DD2AD547FC4}"/>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6" name="Footer Placeholder 5">
            <a:extLst>
              <a:ext uri="{FF2B5EF4-FFF2-40B4-BE49-F238E27FC236}">
                <a16:creationId xmlns:a16="http://schemas.microsoft.com/office/drawing/2014/main" id="{EAB09EFF-3D56-A43D-9042-02A4762BAD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888303-29BF-BC51-E448-DEE99B01D3C8}"/>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689464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C38F-9AB4-DCFD-2659-F96BD2A46D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CDCA9C-D00B-66D0-73D9-3EEC3A61C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6A8BAC-2941-1718-0CEC-A2AAE84B2E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BEDE4E-79E7-6ABC-132F-3046CE163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76B392-A084-3251-7F84-27773378E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90C35B-4F83-9A8F-0E7A-4806DF7711D7}"/>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8" name="Footer Placeholder 7">
            <a:extLst>
              <a:ext uri="{FF2B5EF4-FFF2-40B4-BE49-F238E27FC236}">
                <a16:creationId xmlns:a16="http://schemas.microsoft.com/office/drawing/2014/main" id="{3AE65B64-7CCF-73DB-AB20-FE2A4A92814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52FDFE-D964-846E-DB66-4A0087778CCD}"/>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1537591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9279-E9B5-91AA-FAFF-9C9B04AE58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187B7E-D25B-BF51-404B-1ADCC9A92674}"/>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4" name="Footer Placeholder 3">
            <a:extLst>
              <a:ext uri="{FF2B5EF4-FFF2-40B4-BE49-F238E27FC236}">
                <a16:creationId xmlns:a16="http://schemas.microsoft.com/office/drawing/2014/main" id="{88F9A393-3582-66D3-2A13-86543DD874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E856A0-755B-E828-7309-D17F6E4DAA67}"/>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974217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759017-36B5-5A82-8774-129E17E0224E}"/>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3" name="Footer Placeholder 2">
            <a:extLst>
              <a:ext uri="{FF2B5EF4-FFF2-40B4-BE49-F238E27FC236}">
                <a16:creationId xmlns:a16="http://schemas.microsoft.com/office/drawing/2014/main" id="{D81D98E9-85B4-89DE-12B4-DDC0203419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BCF5AE-AC0A-85F8-E27D-D13102D6CD47}"/>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1546081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FF262-14B9-1812-313A-138D744F19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04CF05-AC08-11C3-BFFD-8EA9FCB15F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EF04FA-85BA-B661-C8D6-E88D6F39F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DFA6A-E822-F669-D581-82ABF89E9F49}"/>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6" name="Footer Placeholder 5">
            <a:extLst>
              <a:ext uri="{FF2B5EF4-FFF2-40B4-BE49-F238E27FC236}">
                <a16:creationId xmlns:a16="http://schemas.microsoft.com/office/drawing/2014/main" id="{FFF3530D-4279-EC88-BA74-C81EA9D659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6C7A7B-7F78-4CCD-55FB-A06CF2D53686}"/>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1059109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9B780-0E7B-432C-34D0-91A8A6393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FE17C4-74DC-44A2-E114-4DE012DBA7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D6AD25-4A5B-8C99-3E96-BE46DDC185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71C970-E4EC-C0E4-436D-99B4E9780828}"/>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6" name="Footer Placeholder 5">
            <a:extLst>
              <a:ext uri="{FF2B5EF4-FFF2-40B4-BE49-F238E27FC236}">
                <a16:creationId xmlns:a16="http://schemas.microsoft.com/office/drawing/2014/main" id="{461DFEA3-4548-3D29-C309-D38755B2F7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F7DD2B-3FBE-4D06-80C2-3597F1E8AACE}"/>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3276393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73248-017E-C92D-1010-ABD73102C0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165CF4-5E6B-AC91-A242-80C83B0F33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600819-C43C-30BB-9DD9-364A8569FE24}"/>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5" name="Footer Placeholder 4">
            <a:extLst>
              <a:ext uri="{FF2B5EF4-FFF2-40B4-BE49-F238E27FC236}">
                <a16:creationId xmlns:a16="http://schemas.microsoft.com/office/drawing/2014/main" id="{55727707-B7DF-03A5-78E7-E350A94C7C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378D3-AA39-BC0E-05FE-5BD69A6F9BE2}"/>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672668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3F4434-A5B4-9FCF-C95C-4FD24D2819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E2B4DF-CC14-F8D8-C933-524E3AD99D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494C2F-47BD-AC7D-2D7A-C03C613683CD}"/>
              </a:ext>
            </a:extLst>
          </p:cNvPr>
          <p:cNvSpPr>
            <a:spLocks noGrp="1"/>
          </p:cNvSpPr>
          <p:nvPr>
            <p:ph type="dt" sz="half" idx="10"/>
          </p:nvPr>
        </p:nvSpPr>
        <p:spPr/>
        <p:txBody>
          <a:bodyPr/>
          <a:lstStyle/>
          <a:p>
            <a:fld id="{C37AFFE9-CA02-4030-ACD3-913E53991E41}" type="datetimeFigureOut">
              <a:rPr lang="en-IN" smtClean="0"/>
              <a:t>24-08-2024</a:t>
            </a:fld>
            <a:endParaRPr lang="en-IN"/>
          </a:p>
        </p:txBody>
      </p:sp>
      <p:sp>
        <p:nvSpPr>
          <p:cNvPr id="5" name="Footer Placeholder 4">
            <a:extLst>
              <a:ext uri="{FF2B5EF4-FFF2-40B4-BE49-F238E27FC236}">
                <a16:creationId xmlns:a16="http://schemas.microsoft.com/office/drawing/2014/main" id="{86410560-74BF-ED25-9B0A-26F8E8B981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5F744-AEC1-18CB-878E-87A699006AAA}"/>
              </a:ext>
            </a:extLst>
          </p:cNvPr>
          <p:cNvSpPr>
            <a:spLocks noGrp="1"/>
          </p:cNvSpPr>
          <p:nvPr>
            <p:ph type="sldNum" sz="quarter" idx="12"/>
          </p:nvPr>
        </p:nvSpPr>
        <p:spPr/>
        <p:txBody>
          <a:bodyPr/>
          <a:lstStyle/>
          <a:p>
            <a:fld id="{B1431393-E5C4-4C66-9E4E-552B151CFE37}" type="slidenum">
              <a:rPr lang="en-IN" smtClean="0"/>
              <a:t>‹#›</a:t>
            </a:fld>
            <a:endParaRPr lang="en-IN"/>
          </a:p>
        </p:txBody>
      </p:sp>
    </p:spTree>
    <p:extLst>
      <p:ext uri="{BB962C8B-B14F-4D97-AF65-F5344CB8AC3E}">
        <p14:creationId xmlns:p14="http://schemas.microsoft.com/office/powerpoint/2010/main" val="15151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55CFB7-07F7-A3FF-0B65-E4E7FD7F71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9AAFF4-2B4A-CA3F-EC15-CC1FF2B548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6BF32-C8C9-05CD-B0E4-6C09C85412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AFFE9-CA02-4030-ACD3-913E53991E41}" type="datetimeFigureOut">
              <a:rPr lang="en-IN" smtClean="0"/>
              <a:t>24-08-2024</a:t>
            </a:fld>
            <a:endParaRPr lang="en-IN"/>
          </a:p>
        </p:txBody>
      </p:sp>
      <p:sp>
        <p:nvSpPr>
          <p:cNvPr id="5" name="Footer Placeholder 4">
            <a:extLst>
              <a:ext uri="{FF2B5EF4-FFF2-40B4-BE49-F238E27FC236}">
                <a16:creationId xmlns:a16="http://schemas.microsoft.com/office/drawing/2014/main" id="{C87FEF06-A638-7462-6FFD-C8755B4F0F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FE76CC-DB2F-7C00-0F35-F5138AFE03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431393-E5C4-4C66-9E4E-552B151CFE37}" type="slidenum">
              <a:rPr lang="en-IN" smtClean="0"/>
              <a:t>‹#›</a:t>
            </a:fld>
            <a:endParaRPr lang="en-IN"/>
          </a:p>
        </p:txBody>
      </p:sp>
    </p:spTree>
    <p:extLst>
      <p:ext uri="{BB962C8B-B14F-4D97-AF65-F5344CB8AC3E}">
        <p14:creationId xmlns:p14="http://schemas.microsoft.com/office/powerpoint/2010/main" val="1313298158"/>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market-risk-premia.com/market-risk-premia.html" TargetMode="External"/><Relationship Id="rId2" Type="http://schemas.openxmlformats.org/officeDocument/2006/relationships/hyperlink" Target="https://www.investing.com/" TargetMode="External"/><Relationship Id="rId1" Type="http://schemas.openxmlformats.org/officeDocument/2006/relationships/slideLayout" Target="../slideLayouts/slideLayout2.xml"/><Relationship Id="rId4" Type="http://schemas.openxmlformats.org/officeDocument/2006/relationships/hyperlink" Target="https://pages.stern.nyu.edu/~adamodar/New_Home_Page/home.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6D8C-F513-0A1F-C5C5-17198770C889}"/>
              </a:ext>
            </a:extLst>
          </p:cNvPr>
          <p:cNvSpPr>
            <a:spLocks noGrp="1"/>
          </p:cNvSpPr>
          <p:nvPr>
            <p:ph type="ctrTitle"/>
          </p:nvPr>
        </p:nvSpPr>
        <p:spPr>
          <a:xfrm>
            <a:off x="1652594" y="620486"/>
            <a:ext cx="9144000" cy="2387600"/>
          </a:xfrm>
        </p:spPr>
        <p:txBody>
          <a:bodyPr/>
          <a:lstStyle/>
          <a:p>
            <a:pPr algn="ctr"/>
            <a:r>
              <a:rPr lang="en-IN" sz="6000" dirty="0">
                <a:latin typeface="Times New Roman" panose="02020603050405020304" pitchFamily="18" charset="0"/>
                <a:cs typeface="Times New Roman" panose="02020603050405020304" pitchFamily="18" charset="0"/>
              </a:rPr>
              <a:t>Valuing S&amp;P 500</a:t>
            </a:r>
          </a:p>
        </p:txBody>
      </p:sp>
      <p:sp>
        <p:nvSpPr>
          <p:cNvPr id="3" name="Subtitle 2">
            <a:extLst>
              <a:ext uri="{FF2B5EF4-FFF2-40B4-BE49-F238E27FC236}">
                <a16:creationId xmlns:a16="http://schemas.microsoft.com/office/drawing/2014/main" id="{3AE5D349-E1E1-7EA4-F13E-FF1B4475E045}"/>
              </a:ext>
            </a:extLst>
          </p:cNvPr>
          <p:cNvSpPr>
            <a:spLocks noGrp="1"/>
          </p:cNvSpPr>
          <p:nvPr>
            <p:ph type="subTitle" idx="1"/>
          </p:nvPr>
        </p:nvSpPr>
        <p:spPr>
          <a:xfrm>
            <a:off x="1440323" y="3849914"/>
            <a:ext cx="9568543" cy="2157639"/>
          </a:xfrm>
        </p:spPr>
        <p:txBody>
          <a:bodyPr>
            <a:normAutofit lnSpcReduction="10000"/>
          </a:bodyPr>
          <a:lstStyle/>
          <a:p>
            <a:pPr algn="ctr"/>
            <a:r>
              <a:rPr lang="en-IN" sz="3000" dirty="0">
                <a:latin typeface="Times New Roman" panose="02020603050405020304" pitchFamily="18" charset="0"/>
                <a:cs typeface="Times New Roman" panose="02020603050405020304" pitchFamily="18" charset="0"/>
              </a:rPr>
              <a:t>Approach &amp; Methodology Paper</a:t>
            </a:r>
          </a:p>
          <a:p>
            <a:pPr algn="ct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a:p>
            <a:pPr algn="ctr"/>
            <a:r>
              <a:rPr lang="en-IN" sz="1800" dirty="0">
                <a:latin typeface="Times New Roman" panose="02020603050405020304" pitchFamily="18" charset="0"/>
                <a:cs typeface="Times New Roman" panose="02020603050405020304" pitchFamily="18" charset="0"/>
              </a:rPr>
              <a:t>Prepared by: Devesh Vyas</a:t>
            </a:r>
          </a:p>
          <a:p>
            <a:pPr algn="ctr"/>
            <a:r>
              <a:rPr lang="en-IN" sz="1800" dirty="0">
                <a:latin typeface="Times New Roman" panose="02020603050405020304" pitchFamily="18" charset="0"/>
                <a:cs typeface="Times New Roman" panose="02020603050405020304" pitchFamily="18" charset="0"/>
              </a:rPr>
              <a:t>Under guidance of: Mr. Parth </a:t>
            </a:r>
            <a:r>
              <a:rPr lang="en-IN" sz="1800" dirty="0" err="1">
                <a:latin typeface="Times New Roman" panose="02020603050405020304" pitchFamily="18" charset="0"/>
                <a:cs typeface="Times New Roman" panose="02020603050405020304" pitchFamily="18" charset="0"/>
              </a:rPr>
              <a:t>verma</a:t>
            </a: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7433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6AE0D07-1E24-E8C2-D059-D4E768FFEE40}"/>
              </a:ext>
            </a:extLst>
          </p:cNvPr>
          <p:cNvGraphicFramePr>
            <a:graphicFrameLocks noGrp="1"/>
          </p:cNvGraphicFramePr>
          <p:nvPr>
            <p:ph idx="1"/>
            <p:extLst>
              <p:ext uri="{D42A27DB-BD31-4B8C-83A1-F6EECF244321}">
                <p14:modId xmlns:p14="http://schemas.microsoft.com/office/powerpoint/2010/main" val="1078603949"/>
              </p:ext>
            </p:extLst>
          </p:nvPr>
        </p:nvGraphicFramePr>
        <p:xfrm>
          <a:off x="1014470" y="2687320"/>
          <a:ext cx="10515599" cy="1483360"/>
        </p:xfrm>
        <a:graphic>
          <a:graphicData uri="http://schemas.openxmlformats.org/drawingml/2006/table">
            <a:tbl>
              <a:tblPr firstRow="1" bandRow="1">
                <a:tableStyleId>{5940675A-B579-460E-94D1-54222C63F5DA}</a:tableStyleId>
              </a:tblPr>
              <a:tblGrid>
                <a:gridCol w="1111420">
                  <a:extLst>
                    <a:ext uri="{9D8B030D-6E8A-4147-A177-3AD203B41FA5}">
                      <a16:colId xmlns:a16="http://schemas.microsoft.com/office/drawing/2014/main" val="4134508395"/>
                    </a:ext>
                  </a:extLst>
                </a:gridCol>
                <a:gridCol w="9404179">
                  <a:extLst>
                    <a:ext uri="{9D8B030D-6E8A-4147-A177-3AD203B41FA5}">
                      <a16:colId xmlns:a16="http://schemas.microsoft.com/office/drawing/2014/main" val="1662289238"/>
                    </a:ext>
                  </a:extLst>
                </a:gridCol>
              </a:tblGrid>
              <a:tr h="370840">
                <a:tc>
                  <a:txBody>
                    <a:bodyPr/>
                    <a:lstStyle/>
                    <a:p>
                      <a:pPr algn="ctr"/>
                      <a:r>
                        <a:rPr lang="en-IN" dirty="0">
                          <a:latin typeface="Times New Roman" panose="02020603050405020304" pitchFamily="18" charset="0"/>
                          <a:cs typeface="Times New Roman" panose="02020603050405020304" pitchFamily="18" charset="0"/>
                        </a:rPr>
                        <a:t>1.</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Context</a:t>
                      </a:r>
                    </a:p>
                  </a:txBody>
                  <a:tcPr marL="111856" marR="111856"/>
                </a:tc>
                <a:extLst>
                  <a:ext uri="{0D108BD9-81ED-4DB2-BD59-A6C34878D82A}">
                    <a16:rowId xmlns:a16="http://schemas.microsoft.com/office/drawing/2014/main" val="999418648"/>
                  </a:ext>
                </a:extLst>
              </a:tr>
              <a:tr h="370840">
                <a:tc>
                  <a:txBody>
                    <a:bodyPr/>
                    <a:lstStyle/>
                    <a:p>
                      <a:pPr algn="ctr"/>
                      <a:r>
                        <a:rPr lang="en-IN" dirty="0">
                          <a:latin typeface="Times New Roman" panose="02020603050405020304" pitchFamily="18" charset="0"/>
                          <a:cs typeface="Times New Roman" panose="02020603050405020304" pitchFamily="18" charset="0"/>
                        </a:rPr>
                        <a:t>2.</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Approach &amp; Methodology</a:t>
                      </a:r>
                    </a:p>
                  </a:txBody>
                  <a:tcPr marL="111856" marR="111856"/>
                </a:tc>
                <a:extLst>
                  <a:ext uri="{0D108BD9-81ED-4DB2-BD59-A6C34878D82A}">
                    <a16:rowId xmlns:a16="http://schemas.microsoft.com/office/drawing/2014/main" val="975871349"/>
                  </a:ext>
                </a:extLst>
              </a:tr>
              <a:tr h="370840">
                <a:tc>
                  <a:txBody>
                    <a:bodyPr/>
                    <a:lstStyle/>
                    <a:p>
                      <a:pPr algn="ctr"/>
                      <a:r>
                        <a:rPr lang="en-IN" dirty="0">
                          <a:latin typeface="Times New Roman" panose="02020603050405020304" pitchFamily="18" charset="0"/>
                          <a:cs typeface="Times New Roman" panose="02020603050405020304" pitchFamily="18" charset="0"/>
                        </a:rPr>
                        <a:t>3.</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Valuation</a:t>
                      </a:r>
                    </a:p>
                  </a:txBody>
                  <a:tcPr marL="111856" marR="111856"/>
                </a:tc>
                <a:extLst>
                  <a:ext uri="{0D108BD9-81ED-4DB2-BD59-A6C34878D82A}">
                    <a16:rowId xmlns:a16="http://schemas.microsoft.com/office/drawing/2014/main" val="1650954812"/>
                  </a:ext>
                </a:extLst>
              </a:tr>
              <a:tr h="370840">
                <a:tc>
                  <a:txBody>
                    <a:bodyPr/>
                    <a:lstStyle/>
                    <a:p>
                      <a:pPr algn="ctr"/>
                      <a:r>
                        <a:rPr lang="en-IN" dirty="0">
                          <a:latin typeface="Times New Roman" panose="02020603050405020304" pitchFamily="18" charset="0"/>
                          <a:cs typeface="Times New Roman" panose="02020603050405020304" pitchFamily="18" charset="0"/>
                        </a:rPr>
                        <a:t>4.</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Sources &amp; Disclaimer</a:t>
                      </a:r>
                    </a:p>
                  </a:txBody>
                  <a:tcPr marL="111856" marR="111856"/>
                </a:tc>
                <a:extLst>
                  <a:ext uri="{0D108BD9-81ED-4DB2-BD59-A6C34878D82A}">
                    <a16:rowId xmlns:a16="http://schemas.microsoft.com/office/drawing/2014/main" val="1427475600"/>
                  </a:ext>
                </a:extLst>
              </a:tr>
            </a:tbl>
          </a:graphicData>
        </a:graphic>
      </p:graphicFrame>
      <p:sp>
        <p:nvSpPr>
          <p:cNvPr id="4" name="Rectangle 3">
            <a:extLst>
              <a:ext uri="{FF2B5EF4-FFF2-40B4-BE49-F238E27FC236}">
                <a16:creationId xmlns:a16="http://schemas.microsoft.com/office/drawing/2014/main" id="{8829929D-CCE6-FFA8-3EEA-6636E33C838C}"/>
              </a:ext>
            </a:extLst>
          </p:cNvPr>
          <p:cNvSpPr/>
          <p:nvPr/>
        </p:nvSpPr>
        <p:spPr>
          <a:xfrm>
            <a:off x="0" y="0"/>
            <a:ext cx="12192000" cy="113473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270019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6AE0D07-1E24-E8C2-D059-D4E768FFEE40}"/>
              </a:ext>
            </a:extLst>
          </p:cNvPr>
          <p:cNvGraphicFramePr>
            <a:graphicFrameLocks noGrp="1"/>
          </p:cNvGraphicFramePr>
          <p:nvPr>
            <p:ph idx="1"/>
            <p:extLst>
              <p:ext uri="{D42A27DB-BD31-4B8C-83A1-F6EECF244321}">
                <p14:modId xmlns:p14="http://schemas.microsoft.com/office/powerpoint/2010/main" val="3899278917"/>
              </p:ext>
            </p:extLst>
          </p:nvPr>
        </p:nvGraphicFramePr>
        <p:xfrm>
          <a:off x="1014470" y="2687320"/>
          <a:ext cx="10515599" cy="1483360"/>
        </p:xfrm>
        <a:graphic>
          <a:graphicData uri="http://schemas.openxmlformats.org/drawingml/2006/table">
            <a:tbl>
              <a:tblPr firstRow="1" bandRow="1">
                <a:tableStyleId>{5940675A-B579-460E-94D1-54222C63F5DA}</a:tableStyleId>
              </a:tblPr>
              <a:tblGrid>
                <a:gridCol w="1111420">
                  <a:extLst>
                    <a:ext uri="{9D8B030D-6E8A-4147-A177-3AD203B41FA5}">
                      <a16:colId xmlns:a16="http://schemas.microsoft.com/office/drawing/2014/main" val="4134508395"/>
                    </a:ext>
                  </a:extLst>
                </a:gridCol>
                <a:gridCol w="9404179">
                  <a:extLst>
                    <a:ext uri="{9D8B030D-6E8A-4147-A177-3AD203B41FA5}">
                      <a16:colId xmlns:a16="http://schemas.microsoft.com/office/drawing/2014/main" val="1662289238"/>
                    </a:ext>
                  </a:extLst>
                </a:gridCol>
              </a:tblGrid>
              <a:tr h="370840">
                <a:tc>
                  <a:txBody>
                    <a:bodyPr/>
                    <a:lstStyle/>
                    <a:p>
                      <a:pPr algn="ctr"/>
                      <a:r>
                        <a:rPr lang="en-IN" dirty="0">
                          <a:solidFill>
                            <a:schemeClr val="bg1"/>
                          </a:solidFill>
                          <a:latin typeface="Times New Roman" panose="02020603050405020304" pitchFamily="18" charset="0"/>
                          <a:cs typeface="Times New Roman" panose="02020603050405020304" pitchFamily="18" charset="0"/>
                        </a:rPr>
                        <a:t>1.</a:t>
                      </a:r>
                    </a:p>
                  </a:txBody>
                  <a:tcPr marL="111856" marR="111856">
                    <a:solidFill>
                      <a:srgbClr val="002060"/>
                    </a:solidFill>
                  </a:tcPr>
                </a:tc>
                <a:tc>
                  <a:txBody>
                    <a:bodyPr/>
                    <a:lstStyle/>
                    <a:p>
                      <a:pPr algn="l"/>
                      <a:r>
                        <a:rPr lang="en-IN" dirty="0">
                          <a:solidFill>
                            <a:schemeClr val="bg1"/>
                          </a:solidFill>
                          <a:latin typeface="Times New Roman" panose="02020603050405020304" pitchFamily="18" charset="0"/>
                          <a:cs typeface="Times New Roman" panose="02020603050405020304" pitchFamily="18" charset="0"/>
                        </a:rPr>
                        <a:t>Context</a:t>
                      </a:r>
                    </a:p>
                  </a:txBody>
                  <a:tcPr marL="111856" marR="111856">
                    <a:solidFill>
                      <a:srgbClr val="002060"/>
                    </a:solidFill>
                  </a:tcPr>
                </a:tc>
                <a:extLst>
                  <a:ext uri="{0D108BD9-81ED-4DB2-BD59-A6C34878D82A}">
                    <a16:rowId xmlns:a16="http://schemas.microsoft.com/office/drawing/2014/main" val="999418648"/>
                  </a:ext>
                </a:extLst>
              </a:tr>
              <a:tr h="370840">
                <a:tc>
                  <a:txBody>
                    <a:bodyPr/>
                    <a:lstStyle/>
                    <a:p>
                      <a:pPr algn="ctr"/>
                      <a:r>
                        <a:rPr lang="en-IN" dirty="0">
                          <a:latin typeface="Times New Roman" panose="02020603050405020304" pitchFamily="18" charset="0"/>
                          <a:cs typeface="Times New Roman" panose="02020603050405020304" pitchFamily="18" charset="0"/>
                        </a:rPr>
                        <a:t>2.</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Approach &amp; Methodology</a:t>
                      </a:r>
                    </a:p>
                  </a:txBody>
                  <a:tcPr marL="111856" marR="111856"/>
                </a:tc>
                <a:extLst>
                  <a:ext uri="{0D108BD9-81ED-4DB2-BD59-A6C34878D82A}">
                    <a16:rowId xmlns:a16="http://schemas.microsoft.com/office/drawing/2014/main" val="975871349"/>
                  </a:ext>
                </a:extLst>
              </a:tr>
              <a:tr h="370840">
                <a:tc>
                  <a:txBody>
                    <a:bodyPr/>
                    <a:lstStyle/>
                    <a:p>
                      <a:pPr algn="ctr"/>
                      <a:r>
                        <a:rPr lang="en-IN" dirty="0">
                          <a:latin typeface="Times New Roman" panose="02020603050405020304" pitchFamily="18" charset="0"/>
                          <a:cs typeface="Times New Roman" panose="02020603050405020304" pitchFamily="18" charset="0"/>
                        </a:rPr>
                        <a:t>3.</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Valuation</a:t>
                      </a:r>
                    </a:p>
                  </a:txBody>
                  <a:tcPr marL="111856" marR="111856"/>
                </a:tc>
                <a:extLst>
                  <a:ext uri="{0D108BD9-81ED-4DB2-BD59-A6C34878D82A}">
                    <a16:rowId xmlns:a16="http://schemas.microsoft.com/office/drawing/2014/main" val="1650954812"/>
                  </a:ext>
                </a:extLst>
              </a:tr>
              <a:tr h="370840">
                <a:tc>
                  <a:txBody>
                    <a:bodyPr/>
                    <a:lstStyle/>
                    <a:p>
                      <a:pPr algn="ctr"/>
                      <a:r>
                        <a:rPr lang="en-IN" dirty="0">
                          <a:latin typeface="Times New Roman" panose="02020603050405020304" pitchFamily="18" charset="0"/>
                          <a:cs typeface="Times New Roman" panose="02020603050405020304" pitchFamily="18" charset="0"/>
                        </a:rPr>
                        <a:t>4.</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Sources &amp; Disclaimer</a:t>
                      </a:r>
                    </a:p>
                  </a:txBody>
                  <a:tcPr marL="111856" marR="111856"/>
                </a:tc>
                <a:extLst>
                  <a:ext uri="{0D108BD9-81ED-4DB2-BD59-A6C34878D82A}">
                    <a16:rowId xmlns:a16="http://schemas.microsoft.com/office/drawing/2014/main" val="1427475600"/>
                  </a:ext>
                </a:extLst>
              </a:tr>
            </a:tbl>
          </a:graphicData>
        </a:graphic>
      </p:graphicFrame>
      <p:sp>
        <p:nvSpPr>
          <p:cNvPr id="4" name="Rectangle 3">
            <a:extLst>
              <a:ext uri="{FF2B5EF4-FFF2-40B4-BE49-F238E27FC236}">
                <a16:creationId xmlns:a16="http://schemas.microsoft.com/office/drawing/2014/main" id="{8829929D-CCE6-FFA8-3EEA-6636E33C838C}"/>
              </a:ext>
            </a:extLst>
          </p:cNvPr>
          <p:cNvSpPr/>
          <p:nvPr/>
        </p:nvSpPr>
        <p:spPr>
          <a:xfrm>
            <a:off x="0" y="0"/>
            <a:ext cx="12192000" cy="113473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2775427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B6EB6F-F76F-289E-BE88-D9DEF24CA0C8}"/>
              </a:ext>
            </a:extLst>
          </p:cNvPr>
          <p:cNvSpPr>
            <a:spLocks noGrp="1"/>
          </p:cNvSpPr>
          <p:nvPr>
            <p:ph idx="1"/>
          </p:nvPr>
        </p:nvSpPr>
        <p:spPr>
          <a:xfrm>
            <a:off x="99150" y="1300216"/>
            <a:ext cx="11986353" cy="5557784"/>
          </a:xfrm>
        </p:spPr>
        <p:txBody>
          <a:bodyPr>
            <a:normAutofit/>
          </a:bodyPr>
          <a:lstStyle/>
          <a:p>
            <a:r>
              <a:rPr lang="en-IN" sz="1800" b="1" dirty="0">
                <a:solidFill>
                  <a:srgbClr val="002060"/>
                </a:solidFill>
                <a:latin typeface="Times New Roman" panose="02020603050405020304" pitchFamily="18" charset="0"/>
                <a:cs typeface="Times New Roman" panose="02020603050405020304" pitchFamily="18" charset="0"/>
              </a:rPr>
              <a:t>1.1 Introduction</a:t>
            </a:r>
          </a:p>
          <a:p>
            <a:pPr marL="0" indent="0">
              <a:lnSpc>
                <a:spcPct val="100000"/>
              </a:lnSpc>
              <a:buNone/>
            </a:pPr>
            <a:r>
              <a:rPr lang="en-IN" sz="2000" dirty="0">
                <a:solidFill>
                  <a:srgbClr val="002060"/>
                </a:solidFill>
                <a:latin typeface="Times New Roman" panose="02020603050405020304" pitchFamily="18" charset="0"/>
                <a:cs typeface="Times New Roman" panose="02020603050405020304" pitchFamily="18" charset="0"/>
              </a:rPr>
              <a:t>The S&amp;P 500 is currently trading at 5634.61. The index have been on a rollercoaster ride, after hitting the month lows, it soared to previous month’s high levels. The catalyst in the precedented growth has been the optimism from the investors in response to the FEDs rate cut to cool sky rocketing inflation down. The quarterly earnings reports have been a mixed bag reaction for investors. While 78% of the S&amp;P 500 companies have reported positive earnings surprises, the magnitude of these surprises is below the historical averages. 9 of the 11 sectors have reported Y-O-Y growth, with IT, Financials &amp; Healthcare leading the way. However, the revenue surprises are minimal, indicating a cautious outlook.</a:t>
            </a:r>
          </a:p>
          <a:p>
            <a:pPr marL="0" indent="0">
              <a:lnSpc>
                <a:spcPct val="100000"/>
              </a:lnSpc>
              <a:buNone/>
            </a:pPr>
            <a:r>
              <a:rPr lang="en-IN" sz="2000" dirty="0">
                <a:solidFill>
                  <a:srgbClr val="002060"/>
                </a:solidFill>
                <a:latin typeface="Times New Roman" panose="02020603050405020304" pitchFamily="18" charset="0"/>
                <a:cs typeface="Times New Roman" panose="02020603050405020304" pitchFamily="18" charset="0"/>
              </a:rPr>
              <a:t>This calls for revisiting the valuation of the S&amp;P 500. This whitepaper is a sheer academic project &amp; it discusses the approach &amp; methodology of valuing the index by considering the dividends, buybacks, earnings growth (EPS) of S&amp;P 500 sectors, Equity Risk Premium (ERP), &amp; the 10Y Government (Treasury) bond as risk-free rates. The valuation in this deck is based on the methodology used by Prof. Ashwat Damodaran (Dean of Valuation- NYU) &amp; his teachings on the Discounted Cash Flow (DCF) method. </a:t>
            </a:r>
          </a:p>
          <a:p>
            <a:pPr marL="0" indent="0">
              <a:lnSpc>
                <a:spcPct val="100000"/>
              </a:lnSpc>
              <a:buNone/>
            </a:pPr>
            <a:r>
              <a:rPr lang="en-IN" sz="2000" dirty="0">
                <a:solidFill>
                  <a:srgbClr val="002060"/>
                </a:solidFill>
                <a:latin typeface="Times New Roman" panose="02020603050405020304" pitchFamily="18" charset="0"/>
                <a:cs typeface="Times New Roman" panose="02020603050405020304" pitchFamily="18" charset="0"/>
              </a:rPr>
              <a:t>Alike other valuations, this paper also used assumptions &amp; understandings, which makes it subjective in nature for interpretation &amp; should be used to gauge broader ideas on the under/overvaluation of the index &amp; </a:t>
            </a:r>
            <a:r>
              <a:rPr lang="en-IN" sz="2000" b="1" i="1" dirty="0">
                <a:solidFill>
                  <a:srgbClr val="002060"/>
                </a:solidFill>
                <a:latin typeface="Times New Roman" panose="02020603050405020304" pitchFamily="18" charset="0"/>
                <a:cs typeface="Times New Roman" panose="02020603050405020304" pitchFamily="18" charset="0"/>
              </a:rPr>
              <a:t>should not be used as an investment/disinvestment rationale </a:t>
            </a:r>
            <a:r>
              <a:rPr lang="en-IN" sz="2000" dirty="0">
                <a:solidFill>
                  <a:srgbClr val="002060"/>
                </a:solidFill>
                <a:latin typeface="Times New Roman" panose="02020603050405020304" pitchFamily="18" charset="0"/>
                <a:cs typeface="Times New Roman" panose="02020603050405020304" pitchFamily="18" charset="0"/>
              </a:rPr>
              <a:t>as it is made purely for academic purpose.	</a:t>
            </a:r>
          </a:p>
        </p:txBody>
      </p:sp>
      <p:sp>
        <p:nvSpPr>
          <p:cNvPr id="4" name="Rectangle 3">
            <a:extLst>
              <a:ext uri="{FF2B5EF4-FFF2-40B4-BE49-F238E27FC236}">
                <a16:creationId xmlns:a16="http://schemas.microsoft.com/office/drawing/2014/main" id="{DBA4F5E4-9955-9EBA-6FD2-103545E0B807}"/>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Context</a:t>
            </a:r>
          </a:p>
        </p:txBody>
      </p:sp>
    </p:spTree>
    <p:extLst>
      <p:ext uri="{BB962C8B-B14F-4D97-AF65-F5344CB8AC3E}">
        <p14:creationId xmlns:p14="http://schemas.microsoft.com/office/powerpoint/2010/main" val="988570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55BA03-CEF7-F7B7-D5F1-F1A2B4A87438}"/>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Approach &amp; Methodology</a:t>
            </a:r>
          </a:p>
        </p:txBody>
      </p:sp>
      <p:graphicFrame>
        <p:nvGraphicFramePr>
          <p:cNvPr id="5" name="Content Placeholder 4">
            <a:extLst>
              <a:ext uri="{FF2B5EF4-FFF2-40B4-BE49-F238E27FC236}">
                <a16:creationId xmlns:a16="http://schemas.microsoft.com/office/drawing/2014/main" id="{41632B5E-5FBF-359B-DD2C-9989411161BB}"/>
              </a:ext>
            </a:extLst>
          </p:cNvPr>
          <p:cNvGraphicFramePr>
            <a:graphicFrameLocks/>
          </p:cNvGraphicFramePr>
          <p:nvPr>
            <p:extLst>
              <p:ext uri="{D42A27DB-BD31-4B8C-83A1-F6EECF244321}">
                <p14:modId xmlns:p14="http://schemas.microsoft.com/office/powerpoint/2010/main" val="2425827916"/>
              </p:ext>
            </p:extLst>
          </p:nvPr>
        </p:nvGraphicFramePr>
        <p:xfrm>
          <a:off x="1014470" y="2687320"/>
          <a:ext cx="10515599" cy="1483360"/>
        </p:xfrm>
        <a:graphic>
          <a:graphicData uri="http://schemas.openxmlformats.org/drawingml/2006/table">
            <a:tbl>
              <a:tblPr firstRow="1" bandRow="1">
                <a:tableStyleId>{5940675A-B579-460E-94D1-54222C63F5DA}</a:tableStyleId>
              </a:tblPr>
              <a:tblGrid>
                <a:gridCol w="1111420">
                  <a:extLst>
                    <a:ext uri="{9D8B030D-6E8A-4147-A177-3AD203B41FA5}">
                      <a16:colId xmlns:a16="http://schemas.microsoft.com/office/drawing/2014/main" val="4134508395"/>
                    </a:ext>
                  </a:extLst>
                </a:gridCol>
                <a:gridCol w="9404179">
                  <a:extLst>
                    <a:ext uri="{9D8B030D-6E8A-4147-A177-3AD203B41FA5}">
                      <a16:colId xmlns:a16="http://schemas.microsoft.com/office/drawing/2014/main" val="1662289238"/>
                    </a:ext>
                  </a:extLst>
                </a:gridCol>
              </a:tblGrid>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1.</a:t>
                      </a:r>
                    </a:p>
                  </a:txBody>
                  <a:tcPr marL="111856" marR="111856">
                    <a:noFill/>
                  </a:tcPr>
                </a:tc>
                <a:tc>
                  <a:txBody>
                    <a:bodyPr/>
                    <a:lstStyle/>
                    <a:p>
                      <a:pPr algn="l"/>
                      <a:r>
                        <a:rPr lang="en-IN" dirty="0">
                          <a:solidFill>
                            <a:schemeClr val="tx1"/>
                          </a:solidFill>
                          <a:latin typeface="Times New Roman" panose="02020603050405020304" pitchFamily="18" charset="0"/>
                          <a:cs typeface="Times New Roman" panose="02020603050405020304" pitchFamily="18" charset="0"/>
                        </a:rPr>
                        <a:t>Context</a:t>
                      </a:r>
                    </a:p>
                  </a:txBody>
                  <a:tcPr marL="111856" marR="111856">
                    <a:noFill/>
                  </a:tcPr>
                </a:tc>
                <a:extLst>
                  <a:ext uri="{0D108BD9-81ED-4DB2-BD59-A6C34878D82A}">
                    <a16:rowId xmlns:a16="http://schemas.microsoft.com/office/drawing/2014/main" val="999418648"/>
                  </a:ext>
                </a:extLst>
              </a:tr>
              <a:tr h="370840">
                <a:tc>
                  <a:txBody>
                    <a:bodyPr/>
                    <a:lstStyle/>
                    <a:p>
                      <a:pPr algn="ctr"/>
                      <a:r>
                        <a:rPr lang="en-IN" dirty="0">
                          <a:solidFill>
                            <a:schemeClr val="bg1"/>
                          </a:solidFill>
                          <a:latin typeface="Times New Roman" panose="02020603050405020304" pitchFamily="18" charset="0"/>
                          <a:cs typeface="Times New Roman" panose="02020603050405020304" pitchFamily="18" charset="0"/>
                        </a:rPr>
                        <a:t>2.</a:t>
                      </a:r>
                    </a:p>
                  </a:txBody>
                  <a:tcPr marL="111856" marR="111856">
                    <a:solidFill>
                      <a:srgbClr val="002060"/>
                    </a:solidFill>
                  </a:tcPr>
                </a:tc>
                <a:tc>
                  <a:txBody>
                    <a:bodyPr/>
                    <a:lstStyle/>
                    <a:p>
                      <a:pPr algn="l"/>
                      <a:r>
                        <a:rPr lang="en-IN" dirty="0">
                          <a:solidFill>
                            <a:schemeClr val="bg1"/>
                          </a:solidFill>
                          <a:latin typeface="Times New Roman" panose="02020603050405020304" pitchFamily="18" charset="0"/>
                          <a:cs typeface="Times New Roman" panose="02020603050405020304" pitchFamily="18" charset="0"/>
                        </a:rPr>
                        <a:t>Approach &amp; Methodology</a:t>
                      </a:r>
                    </a:p>
                  </a:txBody>
                  <a:tcPr marL="111856" marR="111856">
                    <a:solidFill>
                      <a:srgbClr val="002060"/>
                    </a:solidFill>
                  </a:tcPr>
                </a:tc>
                <a:extLst>
                  <a:ext uri="{0D108BD9-81ED-4DB2-BD59-A6C34878D82A}">
                    <a16:rowId xmlns:a16="http://schemas.microsoft.com/office/drawing/2014/main" val="975871349"/>
                  </a:ext>
                </a:extLst>
              </a:tr>
              <a:tr h="370840">
                <a:tc>
                  <a:txBody>
                    <a:bodyPr/>
                    <a:lstStyle/>
                    <a:p>
                      <a:pPr algn="ctr"/>
                      <a:r>
                        <a:rPr lang="en-IN" dirty="0">
                          <a:latin typeface="Times New Roman" panose="02020603050405020304" pitchFamily="18" charset="0"/>
                          <a:cs typeface="Times New Roman" panose="02020603050405020304" pitchFamily="18" charset="0"/>
                        </a:rPr>
                        <a:t>3.</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Valuation</a:t>
                      </a:r>
                    </a:p>
                  </a:txBody>
                  <a:tcPr marL="111856" marR="111856"/>
                </a:tc>
                <a:extLst>
                  <a:ext uri="{0D108BD9-81ED-4DB2-BD59-A6C34878D82A}">
                    <a16:rowId xmlns:a16="http://schemas.microsoft.com/office/drawing/2014/main" val="1650954812"/>
                  </a:ext>
                </a:extLst>
              </a:tr>
              <a:tr h="370840">
                <a:tc>
                  <a:txBody>
                    <a:bodyPr/>
                    <a:lstStyle/>
                    <a:p>
                      <a:pPr algn="ctr"/>
                      <a:r>
                        <a:rPr lang="en-IN" dirty="0">
                          <a:latin typeface="Times New Roman" panose="02020603050405020304" pitchFamily="18" charset="0"/>
                          <a:cs typeface="Times New Roman" panose="02020603050405020304" pitchFamily="18" charset="0"/>
                        </a:rPr>
                        <a:t>4.</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Sources &amp; Disclaimer</a:t>
                      </a:r>
                    </a:p>
                  </a:txBody>
                  <a:tcPr marL="111856" marR="111856"/>
                </a:tc>
                <a:extLst>
                  <a:ext uri="{0D108BD9-81ED-4DB2-BD59-A6C34878D82A}">
                    <a16:rowId xmlns:a16="http://schemas.microsoft.com/office/drawing/2014/main" val="1427475600"/>
                  </a:ext>
                </a:extLst>
              </a:tr>
            </a:tbl>
          </a:graphicData>
        </a:graphic>
      </p:graphicFrame>
    </p:spTree>
    <p:extLst>
      <p:ext uri="{BB962C8B-B14F-4D97-AF65-F5344CB8AC3E}">
        <p14:creationId xmlns:p14="http://schemas.microsoft.com/office/powerpoint/2010/main" val="150874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F50D51-58E4-48F9-5F5F-81ACC96025B0}"/>
              </a:ext>
            </a:extLst>
          </p:cNvPr>
          <p:cNvSpPr>
            <a:spLocks noGrp="1"/>
          </p:cNvSpPr>
          <p:nvPr>
            <p:ph idx="1"/>
          </p:nvPr>
        </p:nvSpPr>
        <p:spPr>
          <a:xfrm>
            <a:off x="166170" y="1253331"/>
            <a:ext cx="5843838" cy="5059334"/>
          </a:xfrm>
        </p:spPr>
        <p:txBody>
          <a:bodyPr>
            <a:normAutofit/>
          </a:bodyPr>
          <a:lstStyle/>
          <a:p>
            <a:r>
              <a:rPr lang="en-IN" sz="1800" b="1" dirty="0">
                <a:solidFill>
                  <a:srgbClr val="002060"/>
                </a:solidFill>
                <a:latin typeface="Times New Roman" panose="02020603050405020304" pitchFamily="18" charset="0"/>
                <a:cs typeface="Times New Roman" panose="02020603050405020304" pitchFamily="18" charset="0"/>
              </a:rPr>
              <a:t>2.1 Expected Dividends &amp; Buybacks</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In DCF, valuation is done by discounted Free Cash Flows to Equity (FCFE) at an appropriate discount rate. However, it is a very tedious task to calculate the FCFE of each of the 500 companies in the S&amp;P 500. However, the estimation of the expected dividends &amp; buybacks based on the historical data is synonymous with FCFE.</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While the dividend yields are readily available on the S&amp;P Global, buyback data was difficult to collect. Therefore, the data was taken from the site of Ashwat Damodaran (NYU Stern). After collecting &amp; analyzing the data it could be concluded that buybacks in the US are more than the dividends due to the maturity of the market, there is little scope for a high-growth phase from here on for the US markets.</a:t>
            </a:r>
            <a:endParaRPr lang="en-IN" sz="1800" dirty="0">
              <a:solidFill>
                <a:srgbClr val="00206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508DFE2F-8E93-A888-F9E2-9114025B3341}"/>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Approach &amp; Methodology</a:t>
            </a:r>
          </a:p>
        </p:txBody>
      </p:sp>
      <p:graphicFrame>
        <p:nvGraphicFramePr>
          <p:cNvPr id="5" name="Table 4">
            <a:extLst>
              <a:ext uri="{FF2B5EF4-FFF2-40B4-BE49-F238E27FC236}">
                <a16:creationId xmlns:a16="http://schemas.microsoft.com/office/drawing/2014/main" id="{CEADF6F7-1BD3-459C-5187-BB1A624C06DC}"/>
              </a:ext>
            </a:extLst>
          </p:cNvPr>
          <p:cNvGraphicFramePr>
            <a:graphicFrameLocks noGrp="1"/>
          </p:cNvGraphicFramePr>
          <p:nvPr>
            <p:extLst>
              <p:ext uri="{D42A27DB-BD31-4B8C-83A1-F6EECF244321}">
                <p14:modId xmlns:p14="http://schemas.microsoft.com/office/powerpoint/2010/main" val="1352206614"/>
              </p:ext>
            </p:extLst>
          </p:nvPr>
        </p:nvGraphicFramePr>
        <p:xfrm>
          <a:off x="6176178" y="1049378"/>
          <a:ext cx="5849652" cy="2379622"/>
        </p:xfrm>
        <a:graphic>
          <a:graphicData uri="http://schemas.openxmlformats.org/drawingml/2006/table">
            <a:tbl>
              <a:tblPr firstRow="1" bandRow="1">
                <a:tableStyleId>{5940675A-B579-460E-94D1-54222C63F5DA}</a:tableStyleId>
              </a:tblPr>
              <a:tblGrid>
                <a:gridCol w="1462413">
                  <a:extLst>
                    <a:ext uri="{9D8B030D-6E8A-4147-A177-3AD203B41FA5}">
                      <a16:colId xmlns:a16="http://schemas.microsoft.com/office/drawing/2014/main" val="1359221308"/>
                    </a:ext>
                  </a:extLst>
                </a:gridCol>
                <a:gridCol w="1462413">
                  <a:extLst>
                    <a:ext uri="{9D8B030D-6E8A-4147-A177-3AD203B41FA5}">
                      <a16:colId xmlns:a16="http://schemas.microsoft.com/office/drawing/2014/main" val="2075574369"/>
                    </a:ext>
                  </a:extLst>
                </a:gridCol>
                <a:gridCol w="1462413">
                  <a:extLst>
                    <a:ext uri="{9D8B030D-6E8A-4147-A177-3AD203B41FA5}">
                      <a16:colId xmlns:a16="http://schemas.microsoft.com/office/drawing/2014/main" val="580301837"/>
                    </a:ext>
                  </a:extLst>
                </a:gridCol>
                <a:gridCol w="1462413">
                  <a:extLst>
                    <a:ext uri="{9D8B030D-6E8A-4147-A177-3AD203B41FA5}">
                      <a16:colId xmlns:a16="http://schemas.microsoft.com/office/drawing/2014/main" val="3736276114"/>
                    </a:ext>
                  </a:extLst>
                </a:gridCol>
              </a:tblGrid>
              <a:tr h="610657">
                <a:tc>
                  <a:txBody>
                    <a:bodyPr/>
                    <a:lstStyle/>
                    <a:p>
                      <a:pPr algn="ctr"/>
                      <a:r>
                        <a:rPr lang="en-IN" sz="1700" b="1" dirty="0">
                          <a:solidFill>
                            <a:schemeClr val="bg1"/>
                          </a:solidFill>
                          <a:latin typeface="Times New Roman" panose="02020603050405020304" pitchFamily="18" charset="0"/>
                          <a:cs typeface="Times New Roman" panose="02020603050405020304" pitchFamily="18" charset="0"/>
                        </a:rPr>
                        <a:t>Compounded Years</a:t>
                      </a:r>
                    </a:p>
                  </a:txBody>
                  <a:tcPr marL="87237" marR="87237" marT="43618" marB="43618">
                    <a:solidFill>
                      <a:srgbClr val="002060"/>
                    </a:solidFill>
                  </a:tcPr>
                </a:tc>
                <a:tc>
                  <a:txBody>
                    <a:bodyPr/>
                    <a:lstStyle/>
                    <a:p>
                      <a:pPr algn="ctr"/>
                      <a:r>
                        <a:rPr lang="en-IN" sz="1700" b="1" dirty="0">
                          <a:solidFill>
                            <a:schemeClr val="bg1"/>
                          </a:solidFill>
                          <a:latin typeface="Times New Roman" panose="02020603050405020304" pitchFamily="18" charset="0"/>
                          <a:cs typeface="Times New Roman" panose="02020603050405020304" pitchFamily="18" charset="0"/>
                        </a:rPr>
                        <a:t>Dividend Yields</a:t>
                      </a:r>
                    </a:p>
                  </a:txBody>
                  <a:tcPr marL="87237" marR="87237" marT="43618" marB="43618">
                    <a:solidFill>
                      <a:srgbClr val="002060"/>
                    </a:solidFill>
                  </a:tcPr>
                </a:tc>
                <a:tc>
                  <a:txBody>
                    <a:bodyPr/>
                    <a:lstStyle/>
                    <a:p>
                      <a:pPr algn="ctr"/>
                      <a:r>
                        <a:rPr lang="en-IN" sz="1700" b="1" dirty="0">
                          <a:solidFill>
                            <a:schemeClr val="bg1"/>
                          </a:solidFill>
                          <a:latin typeface="Times New Roman" panose="02020603050405020304" pitchFamily="18" charset="0"/>
                          <a:cs typeface="Times New Roman" panose="02020603050405020304" pitchFamily="18" charset="0"/>
                        </a:rPr>
                        <a:t>Buyback Yields</a:t>
                      </a:r>
                    </a:p>
                  </a:txBody>
                  <a:tcPr marL="87237" marR="87237" marT="43618" marB="43618">
                    <a:solidFill>
                      <a:srgbClr val="002060"/>
                    </a:solidFill>
                  </a:tcPr>
                </a:tc>
                <a:tc>
                  <a:txBody>
                    <a:bodyPr/>
                    <a:lstStyle/>
                    <a:p>
                      <a:pPr algn="ctr"/>
                      <a:r>
                        <a:rPr lang="en-IN" sz="1700" b="1" dirty="0">
                          <a:solidFill>
                            <a:schemeClr val="bg1"/>
                          </a:solidFill>
                          <a:latin typeface="Times New Roman" panose="02020603050405020304" pitchFamily="18" charset="0"/>
                          <a:cs typeface="Times New Roman" panose="02020603050405020304" pitchFamily="18" charset="0"/>
                        </a:rPr>
                        <a:t>Total </a:t>
                      </a:r>
                    </a:p>
                    <a:p>
                      <a:pPr algn="ctr"/>
                      <a:r>
                        <a:rPr lang="en-IN" sz="1700" b="1" dirty="0">
                          <a:solidFill>
                            <a:schemeClr val="bg1"/>
                          </a:solidFill>
                          <a:latin typeface="Times New Roman" panose="02020603050405020304" pitchFamily="18" charset="0"/>
                          <a:cs typeface="Times New Roman" panose="02020603050405020304" pitchFamily="18" charset="0"/>
                        </a:rPr>
                        <a:t>Yields</a:t>
                      </a:r>
                    </a:p>
                  </a:txBody>
                  <a:tcPr marL="87237" marR="87237" marT="43618" marB="43618">
                    <a:solidFill>
                      <a:srgbClr val="002060"/>
                    </a:solidFill>
                  </a:tcPr>
                </a:tc>
                <a:extLst>
                  <a:ext uri="{0D108BD9-81ED-4DB2-BD59-A6C34878D82A}">
                    <a16:rowId xmlns:a16="http://schemas.microsoft.com/office/drawing/2014/main" val="1850506653"/>
                  </a:ext>
                </a:extLst>
              </a:tr>
              <a:tr h="353793">
                <a:tc>
                  <a:txBody>
                    <a:bodyPr/>
                    <a:lstStyle/>
                    <a:p>
                      <a:pPr algn="ctr"/>
                      <a:r>
                        <a:rPr lang="en-IN" sz="1700" dirty="0">
                          <a:latin typeface="Times New Roman" panose="02020603050405020304" pitchFamily="18" charset="0"/>
                          <a:cs typeface="Times New Roman" panose="02020603050405020304" pitchFamily="18" charset="0"/>
                        </a:rPr>
                        <a:t>20 Years</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1.90%</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2.32%</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4.21%</a:t>
                      </a:r>
                    </a:p>
                  </a:txBody>
                  <a:tcPr marL="87237" marR="87237" marT="43618" marB="43618"/>
                </a:tc>
                <a:extLst>
                  <a:ext uri="{0D108BD9-81ED-4DB2-BD59-A6C34878D82A}">
                    <a16:rowId xmlns:a16="http://schemas.microsoft.com/office/drawing/2014/main" val="1026862505"/>
                  </a:ext>
                </a:extLst>
              </a:tr>
              <a:tr h="353793">
                <a:tc>
                  <a:txBody>
                    <a:bodyPr/>
                    <a:lstStyle/>
                    <a:p>
                      <a:pPr algn="ctr"/>
                      <a:r>
                        <a:rPr lang="en-IN" sz="1700" dirty="0">
                          <a:latin typeface="Times New Roman" panose="02020603050405020304" pitchFamily="18" charset="0"/>
                          <a:cs typeface="Times New Roman" panose="02020603050405020304" pitchFamily="18" charset="0"/>
                        </a:rPr>
                        <a:t>15 Years</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1.82%</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2.22%</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4.04%</a:t>
                      </a:r>
                    </a:p>
                  </a:txBody>
                  <a:tcPr marL="87237" marR="87237" marT="43618" marB="43618"/>
                </a:tc>
                <a:extLst>
                  <a:ext uri="{0D108BD9-81ED-4DB2-BD59-A6C34878D82A}">
                    <a16:rowId xmlns:a16="http://schemas.microsoft.com/office/drawing/2014/main" val="2887621444"/>
                  </a:ext>
                </a:extLst>
              </a:tr>
              <a:tr h="353793">
                <a:tc>
                  <a:txBody>
                    <a:bodyPr/>
                    <a:lstStyle/>
                    <a:p>
                      <a:pPr algn="ctr"/>
                      <a:r>
                        <a:rPr lang="en-IN" sz="1700" dirty="0">
                          <a:latin typeface="Times New Roman" panose="02020603050405020304" pitchFamily="18" charset="0"/>
                          <a:cs typeface="Times New Roman" panose="02020603050405020304" pitchFamily="18" charset="0"/>
                        </a:rPr>
                        <a:t>10 Years</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1.73%</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2.11%</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3.84%</a:t>
                      </a:r>
                    </a:p>
                  </a:txBody>
                  <a:tcPr marL="87237" marR="87237" marT="43618" marB="43618"/>
                </a:tc>
                <a:extLst>
                  <a:ext uri="{0D108BD9-81ED-4DB2-BD59-A6C34878D82A}">
                    <a16:rowId xmlns:a16="http://schemas.microsoft.com/office/drawing/2014/main" val="1496210620"/>
                  </a:ext>
                </a:extLst>
              </a:tr>
              <a:tr h="353793">
                <a:tc>
                  <a:txBody>
                    <a:bodyPr/>
                    <a:lstStyle/>
                    <a:p>
                      <a:pPr algn="ctr"/>
                      <a:r>
                        <a:rPr lang="en-IN" sz="1700" dirty="0">
                          <a:latin typeface="Times New Roman" panose="02020603050405020304" pitchFamily="18" charset="0"/>
                          <a:cs typeface="Times New Roman" panose="02020603050405020304" pitchFamily="18" charset="0"/>
                        </a:rPr>
                        <a:t>5 Years</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1.47%</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1.77%</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3.24%</a:t>
                      </a:r>
                    </a:p>
                  </a:txBody>
                  <a:tcPr marL="87237" marR="87237" marT="43618" marB="43618"/>
                </a:tc>
                <a:extLst>
                  <a:ext uri="{0D108BD9-81ED-4DB2-BD59-A6C34878D82A}">
                    <a16:rowId xmlns:a16="http://schemas.microsoft.com/office/drawing/2014/main" val="138507414"/>
                  </a:ext>
                </a:extLst>
              </a:tr>
              <a:tr h="353793">
                <a:tc>
                  <a:txBody>
                    <a:bodyPr/>
                    <a:lstStyle/>
                    <a:p>
                      <a:pPr algn="ctr"/>
                      <a:r>
                        <a:rPr lang="en-IN" sz="1700" dirty="0">
                          <a:latin typeface="Times New Roman" panose="02020603050405020304" pitchFamily="18" charset="0"/>
                          <a:cs typeface="Times New Roman" panose="02020603050405020304" pitchFamily="18" charset="0"/>
                        </a:rPr>
                        <a:t>3 Years</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1.50%</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1.83%</a:t>
                      </a:r>
                    </a:p>
                  </a:txBody>
                  <a:tcPr marL="87237" marR="87237" marT="43618" marB="43618"/>
                </a:tc>
                <a:tc>
                  <a:txBody>
                    <a:bodyPr/>
                    <a:lstStyle/>
                    <a:p>
                      <a:pPr algn="ctr"/>
                      <a:r>
                        <a:rPr lang="en-IN" sz="1700" dirty="0">
                          <a:latin typeface="Times New Roman" panose="02020603050405020304" pitchFamily="18" charset="0"/>
                          <a:cs typeface="Times New Roman" panose="02020603050405020304" pitchFamily="18" charset="0"/>
                        </a:rPr>
                        <a:t>3.33%</a:t>
                      </a:r>
                    </a:p>
                  </a:txBody>
                  <a:tcPr marL="87237" marR="87237" marT="43618" marB="43618"/>
                </a:tc>
                <a:extLst>
                  <a:ext uri="{0D108BD9-81ED-4DB2-BD59-A6C34878D82A}">
                    <a16:rowId xmlns:a16="http://schemas.microsoft.com/office/drawing/2014/main" val="4288377022"/>
                  </a:ext>
                </a:extLst>
              </a:tr>
            </a:tbl>
          </a:graphicData>
        </a:graphic>
      </p:graphicFrame>
      <p:graphicFrame>
        <p:nvGraphicFramePr>
          <p:cNvPr id="7" name="Chart 6">
            <a:extLst>
              <a:ext uri="{FF2B5EF4-FFF2-40B4-BE49-F238E27FC236}">
                <a16:creationId xmlns:a16="http://schemas.microsoft.com/office/drawing/2014/main" id="{B7A44556-AC57-A4E5-5B51-748081DE1206}"/>
              </a:ext>
            </a:extLst>
          </p:cNvPr>
          <p:cNvGraphicFramePr>
            <a:graphicFrameLocks/>
          </p:cNvGraphicFramePr>
          <p:nvPr>
            <p:extLst>
              <p:ext uri="{D42A27DB-BD31-4B8C-83A1-F6EECF244321}">
                <p14:modId xmlns:p14="http://schemas.microsoft.com/office/powerpoint/2010/main" val="437291163"/>
              </p:ext>
            </p:extLst>
          </p:nvPr>
        </p:nvGraphicFramePr>
        <p:xfrm>
          <a:off x="6096000" y="3429000"/>
          <a:ext cx="6096000" cy="3429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23891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7B7030-E5B3-3FB7-84D3-1182F05F1855}"/>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Approach &amp; Methodology</a:t>
            </a:r>
          </a:p>
        </p:txBody>
      </p:sp>
      <p:sp>
        <p:nvSpPr>
          <p:cNvPr id="8" name="Content Placeholder 2">
            <a:extLst>
              <a:ext uri="{FF2B5EF4-FFF2-40B4-BE49-F238E27FC236}">
                <a16:creationId xmlns:a16="http://schemas.microsoft.com/office/drawing/2014/main" id="{2F8F1B90-F673-6349-00D3-D8AD64B53D2F}"/>
              </a:ext>
            </a:extLst>
          </p:cNvPr>
          <p:cNvSpPr>
            <a:spLocks noGrp="1"/>
          </p:cNvSpPr>
          <p:nvPr>
            <p:ph idx="1"/>
          </p:nvPr>
        </p:nvSpPr>
        <p:spPr>
          <a:xfrm>
            <a:off x="166170" y="1253331"/>
            <a:ext cx="5843840" cy="5059334"/>
          </a:xfrm>
        </p:spPr>
        <p:txBody>
          <a:bodyPr>
            <a:normAutofit/>
          </a:bodyPr>
          <a:lstStyle/>
          <a:p>
            <a:r>
              <a:rPr lang="en-IN" sz="1800" b="1" dirty="0">
                <a:solidFill>
                  <a:srgbClr val="002060"/>
                </a:solidFill>
                <a:latin typeface="Times New Roman" panose="02020603050405020304" pitchFamily="18" charset="0"/>
                <a:cs typeface="Times New Roman" panose="02020603050405020304" pitchFamily="18" charset="0"/>
              </a:rPr>
              <a:t>2.2 Expected Growth in S&amp;P 500 Earnings</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Earnings of the S&amp;P 500 are derived by dividing the Price-to-Earnings ratio (PE Ratio) of the index by its absolute level.</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PE Ratio &amp; Index levels are obtained from Macrotrends.com &amp; Investing.com respectively, &amp; with minimal analysis earnings growth &amp; its growth can be obtained.</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There could be an argument over which growth rate should be considered for valuation. Since there is not much difference between 	3 Years &amp; 20 Years average compounded annual growth % (+/- 1.5%), considering the valuation to remain forward-looking &amp; based on the current financial scenario, earnings growth compounded for 3 years is used for valuation in this paper. </a:t>
            </a:r>
          </a:p>
          <a:p>
            <a:pPr marL="0" indent="0">
              <a:buNone/>
            </a:pPr>
            <a:endParaRPr lang="en-IN" sz="1800" b="1"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18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84BCE95A-DD4A-4047-8B9A-E3B9513D9E1B}"/>
              </a:ext>
            </a:extLst>
          </p:cNvPr>
          <p:cNvGraphicFramePr>
            <a:graphicFrameLocks noGrp="1"/>
          </p:cNvGraphicFramePr>
          <p:nvPr>
            <p:extLst>
              <p:ext uri="{D42A27DB-BD31-4B8C-83A1-F6EECF244321}">
                <p14:modId xmlns:p14="http://schemas.microsoft.com/office/powerpoint/2010/main" val="259156067"/>
              </p:ext>
            </p:extLst>
          </p:nvPr>
        </p:nvGraphicFramePr>
        <p:xfrm>
          <a:off x="6267982" y="1079159"/>
          <a:ext cx="5843840" cy="2225040"/>
        </p:xfrm>
        <a:graphic>
          <a:graphicData uri="http://schemas.openxmlformats.org/drawingml/2006/table">
            <a:tbl>
              <a:tblPr firstRow="1" bandRow="1">
                <a:tableStyleId>{5940675A-B579-460E-94D1-54222C63F5DA}</a:tableStyleId>
              </a:tblPr>
              <a:tblGrid>
                <a:gridCol w="2921920">
                  <a:extLst>
                    <a:ext uri="{9D8B030D-6E8A-4147-A177-3AD203B41FA5}">
                      <a16:colId xmlns:a16="http://schemas.microsoft.com/office/drawing/2014/main" val="1066444841"/>
                    </a:ext>
                  </a:extLst>
                </a:gridCol>
                <a:gridCol w="2921920">
                  <a:extLst>
                    <a:ext uri="{9D8B030D-6E8A-4147-A177-3AD203B41FA5}">
                      <a16:colId xmlns:a16="http://schemas.microsoft.com/office/drawing/2014/main" val="361519054"/>
                    </a:ext>
                  </a:extLst>
                </a:gridCol>
              </a:tblGrid>
              <a:tr h="370840">
                <a:tc>
                  <a:txBody>
                    <a:bodyPr/>
                    <a:lstStyle/>
                    <a:p>
                      <a:pPr algn="ctr"/>
                      <a:r>
                        <a:rPr lang="en-IN" b="1" dirty="0">
                          <a:solidFill>
                            <a:schemeClr val="bg1"/>
                          </a:solidFill>
                          <a:latin typeface="Times New Roman" panose="02020603050405020304" pitchFamily="18" charset="0"/>
                          <a:cs typeface="Times New Roman" panose="02020603050405020304" pitchFamily="18" charset="0"/>
                        </a:rPr>
                        <a:t>Compounded Years</a:t>
                      </a:r>
                    </a:p>
                  </a:txBody>
                  <a:tcPr>
                    <a:solidFill>
                      <a:srgbClr val="002060"/>
                    </a:solidFill>
                  </a:tcPr>
                </a:tc>
                <a:tc>
                  <a:txBody>
                    <a:bodyPr/>
                    <a:lstStyle/>
                    <a:p>
                      <a:pPr algn="ctr"/>
                      <a:r>
                        <a:rPr lang="en-IN" b="1" dirty="0">
                          <a:solidFill>
                            <a:schemeClr val="bg1"/>
                          </a:solidFill>
                          <a:latin typeface="Times New Roman" panose="02020603050405020304" pitchFamily="18" charset="0"/>
                          <a:cs typeface="Times New Roman" panose="02020603050405020304" pitchFamily="18" charset="0"/>
                        </a:rPr>
                        <a:t>Earnings Growth (%)</a:t>
                      </a:r>
                    </a:p>
                  </a:txBody>
                  <a:tcPr>
                    <a:solidFill>
                      <a:srgbClr val="002060"/>
                    </a:solidFill>
                  </a:tcPr>
                </a:tc>
                <a:extLst>
                  <a:ext uri="{0D108BD9-81ED-4DB2-BD59-A6C34878D82A}">
                    <a16:rowId xmlns:a16="http://schemas.microsoft.com/office/drawing/2014/main" val="971932386"/>
                  </a:ext>
                </a:extLst>
              </a:tr>
              <a:tr h="370840">
                <a:tc>
                  <a:txBody>
                    <a:bodyPr/>
                    <a:lstStyle/>
                    <a:p>
                      <a:pPr algn="ctr"/>
                      <a:r>
                        <a:rPr lang="en-IN" dirty="0">
                          <a:latin typeface="Times New Roman" panose="02020603050405020304" pitchFamily="18" charset="0"/>
                          <a:cs typeface="Times New Roman" panose="02020603050405020304" pitchFamily="18" charset="0"/>
                        </a:rPr>
                        <a:t>20 Years</a:t>
                      </a:r>
                    </a:p>
                  </a:txBody>
                  <a:tcPr/>
                </a:tc>
                <a:tc>
                  <a:txBody>
                    <a:bodyPr/>
                    <a:lstStyle/>
                    <a:p>
                      <a:pPr algn="ctr"/>
                      <a:r>
                        <a:rPr lang="en-IN" dirty="0">
                          <a:latin typeface="Times New Roman" panose="02020603050405020304" pitchFamily="18" charset="0"/>
                          <a:cs typeface="Times New Roman" panose="02020603050405020304" pitchFamily="18" charset="0"/>
                        </a:rPr>
                        <a:t>6.20%</a:t>
                      </a:r>
                    </a:p>
                  </a:txBody>
                  <a:tcPr/>
                </a:tc>
                <a:extLst>
                  <a:ext uri="{0D108BD9-81ED-4DB2-BD59-A6C34878D82A}">
                    <a16:rowId xmlns:a16="http://schemas.microsoft.com/office/drawing/2014/main" val="3008878577"/>
                  </a:ext>
                </a:extLst>
              </a:tr>
              <a:tr h="370840">
                <a:tc>
                  <a:txBody>
                    <a:bodyPr/>
                    <a:lstStyle/>
                    <a:p>
                      <a:pPr algn="ctr"/>
                      <a:r>
                        <a:rPr lang="en-IN" dirty="0">
                          <a:latin typeface="Times New Roman" panose="02020603050405020304" pitchFamily="18" charset="0"/>
                          <a:cs typeface="Times New Roman" panose="02020603050405020304" pitchFamily="18" charset="0"/>
                        </a:rPr>
                        <a:t>10 Years</a:t>
                      </a:r>
                    </a:p>
                  </a:txBody>
                  <a:tcPr/>
                </a:tc>
                <a:tc>
                  <a:txBody>
                    <a:bodyPr/>
                    <a:lstStyle/>
                    <a:p>
                      <a:pPr algn="ctr"/>
                      <a:r>
                        <a:rPr lang="en-IN" dirty="0">
                          <a:latin typeface="Times New Roman" panose="02020603050405020304" pitchFamily="18" charset="0"/>
                          <a:cs typeface="Times New Roman" panose="02020603050405020304" pitchFamily="18" charset="0"/>
                        </a:rPr>
                        <a:t>6.33%</a:t>
                      </a:r>
                    </a:p>
                  </a:txBody>
                  <a:tcPr/>
                </a:tc>
                <a:extLst>
                  <a:ext uri="{0D108BD9-81ED-4DB2-BD59-A6C34878D82A}">
                    <a16:rowId xmlns:a16="http://schemas.microsoft.com/office/drawing/2014/main" val="145188805"/>
                  </a:ext>
                </a:extLst>
              </a:tr>
              <a:tr h="370840">
                <a:tc>
                  <a:txBody>
                    <a:bodyPr/>
                    <a:lstStyle/>
                    <a:p>
                      <a:pPr algn="ctr"/>
                      <a:r>
                        <a:rPr lang="en-IN" dirty="0">
                          <a:latin typeface="Times New Roman" panose="02020603050405020304" pitchFamily="18" charset="0"/>
                          <a:cs typeface="Times New Roman" panose="02020603050405020304" pitchFamily="18" charset="0"/>
                        </a:rPr>
                        <a:t>7 years</a:t>
                      </a:r>
                    </a:p>
                  </a:txBody>
                  <a:tcPr/>
                </a:tc>
                <a:tc>
                  <a:txBody>
                    <a:bodyPr/>
                    <a:lstStyle/>
                    <a:p>
                      <a:pPr algn="ctr"/>
                      <a:r>
                        <a:rPr lang="en-IN" dirty="0">
                          <a:latin typeface="Times New Roman" panose="02020603050405020304" pitchFamily="18" charset="0"/>
                          <a:cs typeface="Times New Roman" panose="02020603050405020304" pitchFamily="18" charset="0"/>
                        </a:rPr>
                        <a:t>6.52%</a:t>
                      </a:r>
                    </a:p>
                  </a:txBody>
                  <a:tcPr/>
                </a:tc>
                <a:extLst>
                  <a:ext uri="{0D108BD9-81ED-4DB2-BD59-A6C34878D82A}">
                    <a16:rowId xmlns:a16="http://schemas.microsoft.com/office/drawing/2014/main" val="3927496785"/>
                  </a:ext>
                </a:extLst>
              </a:tr>
              <a:tr h="370840">
                <a:tc>
                  <a:txBody>
                    <a:bodyPr/>
                    <a:lstStyle/>
                    <a:p>
                      <a:pPr algn="ctr"/>
                      <a:r>
                        <a:rPr lang="en-IN" dirty="0">
                          <a:latin typeface="Times New Roman" panose="02020603050405020304" pitchFamily="18" charset="0"/>
                          <a:cs typeface="Times New Roman" panose="02020603050405020304" pitchFamily="18" charset="0"/>
                        </a:rPr>
                        <a:t>5 Years</a:t>
                      </a:r>
                    </a:p>
                  </a:txBody>
                  <a:tcPr/>
                </a:tc>
                <a:tc>
                  <a:txBody>
                    <a:bodyPr/>
                    <a:lstStyle/>
                    <a:p>
                      <a:pPr algn="ctr"/>
                      <a:r>
                        <a:rPr lang="en-IN" dirty="0">
                          <a:latin typeface="Times New Roman" panose="02020603050405020304" pitchFamily="18" charset="0"/>
                          <a:cs typeface="Times New Roman" panose="02020603050405020304" pitchFamily="18" charset="0"/>
                        </a:rPr>
                        <a:t>6.77%</a:t>
                      </a:r>
                    </a:p>
                  </a:txBody>
                  <a:tcPr/>
                </a:tc>
                <a:extLst>
                  <a:ext uri="{0D108BD9-81ED-4DB2-BD59-A6C34878D82A}">
                    <a16:rowId xmlns:a16="http://schemas.microsoft.com/office/drawing/2014/main" val="1393183609"/>
                  </a:ext>
                </a:extLst>
              </a:tr>
              <a:tr h="370840">
                <a:tc>
                  <a:txBody>
                    <a:bodyPr/>
                    <a:lstStyle/>
                    <a:p>
                      <a:pPr algn="ctr"/>
                      <a:r>
                        <a:rPr lang="en-IN" dirty="0">
                          <a:latin typeface="Times New Roman" panose="02020603050405020304" pitchFamily="18" charset="0"/>
                          <a:cs typeface="Times New Roman" panose="02020603050405020304" pitchFamily="18" charset="0"/>
                        </a:rPr>
                        <a:t>3 Years</a:t>
                      </a:r>
                    </a:p>
                  </a:txBody>
                  <a:tcPr/>
                </a:tc>
                <a:tc>
                  <a:txBody>
                    <a:bodyPr/>
                    <a:lstStyle/>
                    <a:p>
                      <a:pPr algn="ctr"/>
                      <a:r>
                        <a:rPr lang="en-IN" dirty="0">
                          <a:latin typeface="Times New Roman" panose="02020603050405020304" pitchFamily="18" charset="0"/>
                          <a:cs typeface="Times New Roman" panose="02020603050405020304" pitchFamily="18" charset="0"/>
                        </a:rPr>
                        <a:t>7.99%</a:t>
                      </a:r>
                    </a:p>
                  </a:txBody>
                  <a:tcPr/>
                </a:tc>
                <a:extLst>
                  <a:ext uri="{0D108BD9-81ED-4DB2-BD59-A6C34878D82A}">
                    <a16:rowId xmlns:a16="http://schemas.microsoft.com/office/drawing/2014/main" val="1128075392"/>
                  </a:ext>
                </a:extLst>
              </a:tr>
            </a:tbl>
          </a:graphicData>
        </a:graphic>
      </p:graphicFrame>
      <p:graphicFrame>
        <p:nvGraphicFramePr>
          <p:cNvPr id="10" name="Chart 9">
            <a:extLst>
              <a:ext uri="{FF2B5EF4-FFF2-40B4-BE49-F238E27FC236}">
                <a16:creationId xmlns:a16="http://schemas.microsoft.com/office/drawing/2014/main" id="{16B0FCB8-510B-9C1B-465E-7BD6DC06942B}"/>
              </a:ext>
            </a:extLst>
          </p:cNvPr>
          <p:cNvGraphicFramePr>
            <a:graphicFrameLocks/>
          </p:cNvGraphicFramePr>
          <p:nvPr>
            <p:extLst>
              <p:ext uri="{D42A27DB-BD31-4B8C-83A1-F6EECF244321}">
                <p14:modId xmlns:p14="http://schemas.microsoft.com/office/powerpoint/2010/main" val="396817218"/>
              </p:ext>
            </p:extLst>
          </p:nvPr>
        </p:nvGraphicFramePr>
        <p:xfrm>
          <a:off x="6267982" y="3429000"/>
          <a:ext cx="5757848" cy="32356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04045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A9DCC8-F0CB-894F-E503-EF274D6B9DC4}"/>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Approach &amp; Methodology</a:t>
            </a:r>
          </a:p>
        </p:txBody>
      </p:sp>
      <p:sp>
        <p:nvSpPr>
          <p:cNvPr id="5" name="Content Placeholder 2">
            <a:extLst>
              <a:ext uri="{FF2B5EF4-FFF2-40B4-BE49-F238E27FC236}">
                <a16:creationId xmlns:a16="http://schemas.microsoft.com/office/drawing/2014/main" id="{781DA57A-50DA-A975-300F-2F54E6F69E49}"/>
              </a:ext>
            </a:extLst>
          </p:cNvPr>
          <p:cNvSpPr>
            <a:spLocks noGrp="1"/>
          </p:cNvSpPr>
          <p:nvPr>
            <p:ph idx="1"/>
          </p:nvPr>
        </p:nvSpPr>
        <p:spPr>
          <a:xfrm>
            <a:off x="166170" y="1253331"/>
            <a:ext cx="5843840" cy="5059334"/>
          </a:xfrm>
        </p:spPr>
        <p:txBody>
          <a:bodyPr>
            <a:normAutofit/>
          </a:bodyPr>
          <a:lstStyle/>
          <a:p>
            <a:r>
              <a:rPr lang="en-IN" sz="1800" b="1" dirty="0">
                <a:solidFill>
                  <a:srgbClr val="002060"/>
                </a:solidFill>
                <a:latin typeface="Times New Roman" panose="02020603050405020304" pitchFamily="18" charset="0"/>
                <a:cs typeface="Times New Roman" panose="02020603050405020304" pitchFamily="18" charset="0"/>
              </a:rPr>
              <a:t>2.3 Risk-Free Rate (Rfr)- 10Y US Treasury Bond Yield</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The risk-free rate is the basic driver for DCF Valuation &amp; is a metric of opportunity cost. It is convenient to use 10 Years of Government Bond Yield as the risk-free rate. However, it can be further adjusted for default risk &amp; country risk. But, since the default spread of the USA is known as transaction cost &amp; as per Moody’s ratings there is no default risk/country risk we can safely consider US 10Y Govt. Bond as our Rfr.</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There could be an argument on which rate should be considered for valuation. In the early 2000s, the T-Bonds traded around 6%-7% which was the highest in the past 24 years. But since the valuation is forward-looking, the latest Risk-Free rate has been taken into calculation.</a:t>
            </a:r>
          </a:p>
          <a:p>
            <a:pPr marL="0" indent="0">
              <a:buNone/>
            </a:pPr>
            <a:endParaRPr lang="en-IN" sz="1800" b="1"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18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8835E362-248B-5706-5782-CF36700BE19C}"/>
              </a:ext>
            </a:extLst>
          </p:cNvPr>
          <p:cNvGraphicFramePr>
            <a:graphicFrameLocks noGrp="1"/>
          </p:cNvGraphicFramePr>
          <p:nvPr>
            <p:extLst>
              <p:ext uri="{D42A27DB-BD31-4B8C-83A1-F6EECF244321}">
                <p14:modId xmlns:p14="http://schemas.microsoft.com/office/powerpoint/2010/main" val="2563955095"/>
              </p:ext>
            </p:extLst>
          </p:nvPr>
        </p:nvGraphicFramePr>
        <p:xfrm>
          <a:off x="6096000" y="1157687"/>
          <a:ext cx="6010008" cy="2468880"/>
        </p:xfrm>
        <a:graphic>
          <a:graphicData uri="http://schemas.openxmlformats.org/drawingml/2006/table">
            <a:tbl>
              <a:tblPr firstRow="1" bandRow="1">
                <a:tableStyleId>{5940675A-B579-460E-94D1-54222C63F5DA}</a:tableStyleId>
              </a:tblPr>
              <a:tblGrid>
                <a:gridCol w="3005004">
                  <a:extLst>
                    <a:ext uri="{9D8B030D-6E8A-4147-A177-3AD203B41FA5}">
                      <a16:colId xmlns:a16="http://schemas.microsoft.com/office/drawing/2014/main" val="3451844198"/>
                    </a:ext>
                  </a:extLst>
                </a:gridCol>
                <a:gridCol w="3005004">
                  <a:extLst>
                    <a:ext uri="{9D8B030D-6E8A-4147-A177-3AD203B41FA5}">
                      <a16:colId xmlns:a16="http://schemas.microsoft.com/office/drawing/2014/main" val="4094346261"/>
                    </a:ext>
                  </a:extLst>
                </a:gridCol>
              </a:tblGrid>
              <a:tr h="600148">
                <a:tc>
                  <a:txBody>
                    <a:bodyPr/>
                    <a:lstStyle/>
                    <a:p>
                      <a:pPr algn="ctr"/>
                      <a:r>
                        <a:rPr lang="en-IN" b="1" dirty="0">
                          <a:solidFill>
                            <a:schemeClr val="bg1"/>
                          </a:solidFill>
                          <a:latin typeface="Times New Roman" panose="02020603050405020304" pitchFamily="18" charset="0"/>
                          <a:cs typeface="Times New Roman" panose="02020603050405020304" pitchFamily="18" charset="0"/>
                        </a:rPr>
                        <a:t>Compounded Years</a:t>
                      </a:r>
                    </a:p>
                  </a:txBody>
                  <a:tcPr>
                    <a:solidFill>
                      <a:srgbClr val="002060"/>
                    </a:solidFill>
                  </a:tcPr>
                </a:tc>
                <a:tc>
                  <a:txBody>
                    <a:bodyPr/>
                    <a:lstStyle/>
                    <a:p>
                      <a:pPr algn="ctr"/>
                      <a:r>
                        <a:rPr lang="en-IN" b="1" dirty="0">
                          <a:solidFill>
                            <a:schemeClr val="bg1"/>
                          </a:solidFill>
                          <a:latin typeface="Times New Roman" panose="02020603050405020304" pitchFamily="18" charset="0"/>
                          <a:cs typeface="Times New Roman" panose="02020603050405020304" pitchFamily="18" charset="0"/>
                        </a:rPr>
                        <a:t>10Y US Treasury Bond Yields</a:t>
                      </a:r>
                    </a:p>
                  </a:txBody>
                  <a:tcPr>
                    <a:solidFill>
                      <a:srgbClr val="002060"/>
                    </a:solidFill>
                  </a:tcPr>
                </a:tc>
                <a:extLst>
                  <a:ext uri="{0D108BD9-81ED-4DB2-BD59-A6C34878D82A}">
                    <a16:rowId xmlns:a16="http://schemas.microsoft.com/office/drawing/2014/main" val="2392698055"/>
                  </a:ext>
                </a:extLst>
              </a:tr>
              <a:tr h="342941">
                <a:tc>
                  <a:txBody>
                    <a:bodyPr/>
                    <a:lstStyle/>
                    <a:p>
                      <a:pPr algn="ctr"/>
                      <a:r>
                        <a:rPr lang="en-IN" dirty="0">
                          <a:latin typeface="Times New Roman" panose="02020603050405020304" pitchFamily="18" charset="0"/>
                          <a:cs typeface="Times New Roman" panose="02020603050405020304" pitchFamily="18" charset="0"/>
                        </a:rPr>
                        <a:t>20 Years</a:t>
                      </a:r>
                    </a:p>
                  </a:txBody>
                  <a:tcPr/>
                </a:tc>
                <a:tc>
                  <a:txBody>
                    <a:bodyPr/>
                    <a:lstStyle/>
                    <a:p>
                      <a:pPr algn="ctr"/>
                      <a:r>
                        <a:rPr lang="en-IN" dirty="0">
                          <a:latin typeface="Times New Roman" panose="02020603050405020304" pitchFamily="18" charset="0"/>
                          <a:cs typeface="Times New Roman" panose="02020603050405020304" pitchFamily="18" charset="0"/>
                        </a:rPr>
                        <a:t>2.88%</a:t>
                      </a:r>
                    </a:p>
                  </a:txBody>
                  <a:tcPr/>
                </a:tc>
                <a:extLst>
                  <a:ext uri="{0D108BD9-81ED-4DB2-BD59-A6C34878D82A}">
                    <a16:rowId xmlns:a16="http://schemas.microsoft.com/office/drawing/2014/main" val="2569651528"/>
                  </a:ext>
                </a:extLst>
              </a:tr>
              <a:tr h="342941">
                <a:tc>
                  <a:txBody>
                    <a:bodyPr/>
                    <a:lstStyle/>
                    <a:p>
                      <a:pPr algn="ctr"/>
                      <a:r>
                        <a:rPr lang="en-IN" dirty="0">
                          <a:latin typeface="Times New Roman" panose="02020603050405020304" pitchFamily="18" charset="0"/>
                          <a:cs typeface="Times New Roman" panose="02020603050405020304" pitchFamily="18" charset="0"/>
                        </a:rPr>
                        <a:t>15 Years</a:t>
                      </a:r>
                    </a:p>
                  </a:txBody>
                  <a:tcPr/>
                </a:tc>
                <a:tc>
                  <a:txBody>
                    <a:bodyPr/>
                    <a:lstStyle/>
                    <a:p>
                      <a:pPr algn="ctr"/>
                      <a:r>
                        <a:rPr lang="en-IN" dirty="0">
                          <a:latin typeface="Times New Roman" panose="02020603050405020304" pitchFamily="18" charset="0"/>
                          <a:cs typeface="Times New Roman" panose="02020603050405020304" pitchFamily="18" charset="0"/>
                        </a:rPr>
                        <a:t>2.48%</a:t>
                      </a:r>
                    </a:p>
                  </a:txBody>
                  <a:tcPr/>
                </a:tc>
                <a:extLst>
                  <a:ext uri="{0D108BD9-81ED-4DB2-BD59-A6C34878D82A}">
                    <a16:rowId xmlns:a16="http://schemas.microsoft.com/office/drawing/2014/main" val="157108768"/>
                  </a:ext>
                </a:extLst>
              </a:tr>
              <a:tr h="342941">
                <a:tc>
                  <a:txBody>
                    <a:bodyPr/>
                    <a:lstStyle/>
                    <a:p>
                      <a:pPr algn="ctr"/>
                      <a:r>
                        <a:rPr lang="en-IN" dirty="0">
                          <a:latin typeface="Times New Roman" panose="02020603050405020304" pitchFamily="18" charset="0"/>
                          <a:cs typeface="Times New Roman" panose="02020603050405020304" pitchFamily="18" charset="0"/>
                        </a:rPr>
                        <a:t>10 Years</a:t>
                      </a:r>
                    </a:p>
                  </a:txBody>
                  <a:tcPr/>
                </a:tc>
                <a:tc>
                  <a:txBody>
                    <a:bodyPr/>
                    <a:lstStyle/>
                    <a:p>
                      <a:pPr algn="ctr"/>
                      <a:r>
                        <a:rPr lang="en-IN" dirty="0">
                          <a:latin typeface="Times New Roman" panose="02020603050405020304" pitchFamily="18" charset="0"/>
                          <a:cs typeface="Times New Roman" panose="02020603050405020304" pitchFamily="18" charset="0"/>
                        </a:rPr>
                        <a:t>2.47%</a:t>
                      </a:r>
                    </a:p>
                  </a:txBody>
                  <a:tcPr/>
                </a:tc>
                <a:extLst>
                  <a:ext uri="{0D108BD9-81ED-4DB2-BD59-A6C34878D82A}">
                    <a16:rowId xmlns:a16="http://schemas.microsoft.com/office/drawing/2014/main" val="2238937688"/>
                  </a:ext>
                </a:extLst>
              </a:tr>
              <a:tr h="342941">
                <a:tc>
                  <a:txBody>
                    <a:bodyPr/>
                    <a:lstStyle/>
                    <a:p>
                      <a:pPr algn="ctr"/>
                      <a:r>
                        <a:rPr lang="en-IN" dirty="0">
                          <a:latin typeface="Times New Roman" panose="02020603050405020304" pitchFamily="18" charset="0"/>
                          <a:cs typeface="Times New Roman" panose="02020603050405020304" pitchFamily="18" charset="0"/>
                        </a:rPr>
                        <a:t>5 Years</a:t>
                      </a:r>
                    </a:p>
                  </a:txBody>
                  <a:tcPr/>
                </a:tc>
                <a:tc>
                  <a:txBody>
                    <a:bodyPr/>
                    <a:lstStyle/>
                    <a:p>
                      <a:pPr algn="ctr"/>
                      <a:r>
                        <a:rPr lang="en-IN" dirty="0">
                          <a:latin typeface="Times New Roman" panose="02020603050405020304" pitchFamily="18" charset="0"/>
                          <a:cs typeface="Times New Roman" panose="02020603050405020304" pitchFamily="18" charset="0"/>
                        </a:rPr>
                        <a:t>2.69%</a:t>
                      </a:r>
                    </a:p>
                  </a:txBody>
                  <a:tcPr/>
                </a:tc>
                <a:extLst>
                  <a:ext uri="{0D108BD9-81ED-4DB2-BD59-A6C34878D82A}">
                    <a16:rowId xmlns:a16="http://schemas.microsoft.com/office/drawing/2014/main" val="1243592354"/>
                  </a:ext>
                </a:extLst>
              </a:tr>
              <a:tr h="342941">
                <a:tc>
                  <a:txBody>
                    <a:bodyPr/>
                    <a:lstStyle/>
                    <a:p>
                      <a:pPr algn="ctr"/>
                      <a:r>
                        <a:rPr lang="en-IN" dirty="0">
                          <a:latin typeface="Times New Roman" panose="02020603050405020304" pitchFamily="18" charset="0"/>
                          <a:cs typeface="Times New Roman" panose="02020603050405020304" pitchFamily="18" charset="0"/>
                        </a:rPr>
                        <a:t>Latest</a:t>
                      </a:r>
                    </a:p>
                  </a:txBody>
                  <a:tcPr/>
                </a:tc>
                <a:tc>
                  <a:txBody>
                    <a:bodyPr/>
                    <a:lstStyle/>
                    <a:p>
                      <a:pPr algn="ctr"/>
                      <a:r>
                        <a:rPr lang="en-IN" dirty="0">
                          <a:latin typeface="Times New Roman" panose="02020603050405020304" pitchFamily="18" charset="0"/>
                          <a:cs typeface="Times New Roman" panose="02020603050405020304" pitchFamily="18" charset="0"/>
                        </a:rPr>
                        <a:t>4.23%</a:t>
                      </a:r>
                    </a:p>
                  </a:txBody>
                  <a:tcPr/>
                </a:tc>
                <a:extLst>
                  <a:ext uri="{0D108BD9-81ED-4DB2-BD59-A6C34878D82A}">
                    <a16:rowId xmlns:a16="http://schemas.microsoft.com/office/drawing/2014/main" val="80617342"/>
                  </a:ext>
                </a:extLst>
              </a:tr>
            </a:tbl>
          </a:graphicData>
        </a:graphic>
      </p:graphicFrame>
      <p:graphicFrame>
        <p:nvGraphicFramePr>
          <p:cNvPr id="7" name="Chart 6">
            <a:extLst>
              <a:ext uri="{FF2B5EF4-FFF2-40B4-BE49-F238E27FC236}">
                <a16:creationId xmlns:a16="http://schemas.microsoft.com/office/drawing/2014/main" id="{EC1AE09A-51D5-A7D3-4791-0A3AD9545F50}"/>
              </a:ext>
            </a:extLst>
          </p:cNvPr>
          <p:cNvGraphicFramePr>
            <a:graphicFrameLocks/>
          </p:cNvGraphicFramePr>
          <p:nvPr>
            <p:extLst>
              <p:ext uri="{D42A27DB-BD31-4B8C-83A1-F6EECF244321}">
                <p14:modId xmlns:p14="http://schemas.microsoft.com/office/powerpoint/2010/main" val="1832009361"/>
              </p:ext>
            </p:extLst>
          </p:nvPr>
        </p:nvGraphicFramePr>
        <p:xfrm>
          <a:off x="6096001" y="3781719"/>
          <a:ext cx="6010008" cy="30208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56824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7D73CE-222B-0769-D8CF-5108B4573F58}"/>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Approach &amp; Methodology</a:t>
            </a:r>
          </a:p>
        </p:txBody>
      </p:sp>
      <p:sp>
        <p:nvSpPr>
          <p:cNvPr id="6" name="Content Placeholder 2">
            <a:extLst>
              <a:ext uri="{FF2B5EF4-FFF2-40B4-BE49-F238E27FC236}">
                <a16:creationId xmlns:a16="http://schemas.microsoft.com/office/drawing/2014/main" id="{AD2DB689-ABEF-3077-40E2-D5DB2E709D18}"/>
              </a:ext>
            </a:extLst>
          </p:cNvPr>
          <p:cNvSpPr>
            <a:spLocks noGrp="1"/>
          </p:cNvSpPr>
          <p:nvPr>
            <p:ph idx="1"/>
          </p:nvPr>
        </p:nvSpPr>
        <p:spPr>
          <a:xfrm>
            <a:off x="166170" y="1253331"/>
            <a:ext cx="5843840" cy="5059334"/>
          </a:xfrm>
        </p:spPr>
        <p:txBody>
          <a:bodyPr>
            <a:normAutofit/>
          </a:bodyPr>
          <a:lstStyle/>
          <a:p>
            <a:r>
              <a:rPr lang="en-IN" sz="1800" b="1" dirty="0">
                <a:solidFill>
                  <a:srgbClr val="002060"/>
                </a:solidFill>
                <a:latin typeface="Times New Roman" panose="02020603050405020304" pitchFamily="18" charset="0"/>
                <a:cs typeface="Times New Roman" panose="02020603050405020304" pitchFamily="18" charset="0"/>
              </a:rPr>
              <a:t>2.4 Implied Market Risk Premium (MRP/ERP)</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The market risk premium is the additional measure that expects returns on an index or portfolio of investments above the given risk-free rate. The implied Equity Risk Premium (ERP) is equal to the slope of the security market line (SML).</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It is an incentive for assuming risk beyond the government bonds over equity markets in general.</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A higher ERP indicates a cautious market where the investors are defensive while investing in the equities &amp; represents their willingness to pay a lower price for the same cash flows &amp; earnings</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Implied ERP is reverse calculated by considering the current index value and expected FCFEs.</a:t>
            </a:r>
            <a:endParaRPr lang="en-I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18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E9B00EFE-A200-527D-C069-C0DE857B5C1D}"/>
              </a:ext>
            </a:extLst>
          </p:cNvPr>
          <p:cNvGraphicFramePr>
            <a:graphicFrameLocks noGrp="1"/>
          </p:cNvGraphicFramePr>
          <p:nvPr>
            <p:extLst>
              <p:ext uri="{D42A27DB-BD31-4B8C-83A1-F6EECF244321}">
                <p14:modId xmlns:p14="http://schemas.microsoft.com/office/powerpoint/2010/main" val="1492855525"/>
              </p:ext>
            </p:extLst>
          </p:nvPr>
        </p:nvGraphicFramePr>
        <p:xfrm>
          <a:off x="6096000" y="1147356"/>
          <a:ext cx="6010008" cy="2281644"/>
        </p:xfrm>
        <a:graphic>
          <a:graphicData uri="http://schemas.openxmlformats.org/drawingml/2006/table">
            <a:tbl>
              <a:tblPr firstRow="1" bandRow="1">
                <a:tableStyleId>{5940675A-B579-460E-94D1-54222C63F5DA}</a:tableStyleId>
              </a:tblPr>
              <a:tblGrid>
                <a:gridCol w="3005004">
                  <a:extLst>
                    <a:ext uri="{9D8B030D-6E8A-4147-A177-3AD203B41FA5}">
                      <a16:colId xmlns:a16="http://schemas.microsoft.com/office/drawing/2014/main" val="2268246438"/>
                    </a:ext>
                  </a:extLst>
                </a:gridCol>
                <a:gridCol w="3005004">
                  <a:extLst>
                    <a:ext uri="{9D8B030D-6E8A-4147-A177-3AD203B41FA5}">
                      <a16:colId xmlns:a16="http://schemas.microsoft.com/office/drawing/2014/main" val="284786244"/>
                    </a:ext>
                  </a:extLst>
                </a:gridCol>
              </a:tblGrid>
              <a:tr h="380274">
                <a:tc>
                  <a:txBody>
                    <a:bodyPr/>
                    <a:lstStyle/>
                    <a:p>
                      <a:pPr algn="ctr"/>
                      <a:r>
                        <a:rPr lang="en-IN" b="1" dirty="0">
                          <a:solidFill>
                            <a:schemeClr val="bg1"/>
                          </a:solidFill>
                          <a:latin typeface="Times New Roman" panose="02020603050405020304" pitchFamily="18" charset="0"/>
                          <a:cs typeface="Times New Roman" panose="02020603050405020304" pitchFamily="18" charset="0"/>
                        </a:rPr>
                        <a:t>Compounded Years</a:t>
                      </a:r>
                    </a:p>
                  </a:txBody>
                  <a:tcPr>
                    <a:solidFill>
                      <a:srgbClr val="002060"/>
                    </a:solidFill>
                  </a:tcPr>
                </a:tc>
                <a:tc>
                  <a:txBody>
                    <a:bodyPr/>
                    <a:lstStyle/>
                    <a:p>
                      <a:pPr algn="ctr"/>
                      <a:r>
                        <a:rPr lang="en-IN" b="1" dirty="0">
                          <a:solidFill>
                            <a:schemeClr val="bg1"/>
                          </a:solidFill>
                          <a:latin typeface="Times New Roman" panose="02020603050405020304" pitchFamily="18" charset="0"/>
                          <a:cs typeface="Times New Roman" panose="02020603050405020304" pitchFamily="18" charset="0"/>
                        </a:rPr>
                        <a:t>Implied ERP</a:t>
                      </a:r>
                    </a:p>
                  </a:txBody>
                  <a:tcPr>
                    <a:solidFill>
                      <a:srgbClr val="002060"/>
                    </a:solidFill>
                  </a:tcPr>
                </a:tc>
                <a:extLst>
                  <a:ext uri="{0D108BD9-81ED-4DB2-BD59-A6C34878D82A}">
                    <a16:rowId xmlns:a16="http://schemas.microsoft.com/office/drawing/2014/main" val="4139498469"/>
                  </a:ext>
                </a:extLst>
              </a:tr>
              <a:tr h="380274">
                <a:tc>
                  <a:txBody>
                    <a:bodyPr/>
                    <a:lstStyle/>
                    <a:p>
                      <a:pPr algn="ctr"/>
                      <a:r>
                        <a:rPr lang="en-IN" dirty="0">
                          <a:latin typeface="Times New Roman" panose="02020603050405020304" pitchFamily="18" charset="0"/>
                          <a:cs typeface="Times New Roman" panose="02020603050405020304" pitchFamily="18" charset="0"/>
                        </a:rPr>
                        <a:t>20 Years</a:t>
                      </a:r>
                    </a:p>
                  </a:txBody>
                  <a:tcPr/>
                </a:tc>
                <a:tc>
                  <a:txBody>
                    <a:bodyPr/>
                    <a:lstStyle/>
                    <a:p>
                      <a:pPr algn="ctr"/>
                      <a:r>
                        <a:rPr lang="en-IN" dirty="0">
                          <a:latin typeface="Times New Roman" panose="02020603050405020304" pitchFamily="18" charset="0"/>
                          <a:cs typeface="Times New Roman" panose="02020603050405020304" pitchFamily="18" charset="0"/>
                        </a:rPr>
                        <a:t>4.24%</a:t>
                      </a:r>
                    </a:p>
                  </a:txBody>
                  <a:tcPr/>
                </a:tc>
                <a:extLst>
                  <a:ext uri="{0D108BD9-81ED-4DB2-BD59-A6C34878D82A}">
                    <a16:rowId xmlns:a16="http://schemas.microsoft.com/office/drawing/2014/main" val="11651735"/>
                  </a:ext>
                </a:extLst>
              </a:tr>
              <a:tr h="380274">
                <a:tc>
                  <a:txBody>
                    <a:bodyPr/>
                    <a:lstStyle/>
                    <a:p>
                      <a:pPr algn="ctr"/>
                      <a:r>
                        <a:rPr lang="en-IN" dirty="0">
                          <a:latin typeface="Times New Roman" panose="02020603050405020304" pitchFamily="18" charset="0"/>
                          <a:cs typeface="Times New Roman" panose="02020603050405020304" pitchFamily="18" charset="0"/>
                        </a:rPr>
                        <a:t>15 Years</a:t>
                      </a:r>
                    </a:p>
                  </a:txBody>
                  <a:tcPr/>
                </a:tc>
                <a:tc>
                  <a:txBody>
                    <a:bodyPr/>
                    <a:lstStyle/>
                    <a:p>
                      <a:pPr algn="ctr"/>
                      <a:r>
                        <a:rPr lang="en-IN" dirty="0">
                          <a:latin typeface="Times New Roman" panose="02020603050405020304" pitchFamily="18" charset="0"/>
                          <a:cs typeface="Times New Roman" panose="02020603050405020304" pitchFamily="18" charset="0"/>
                        </a:rPr>
                        <a:t>4.39%</a:t>
                      </a:r>
                    </a:p>
                  </a:txBody>
                  <a:tcPr/>
                </a:tc>
                <a:extLst>
                  <a:ext uri="{0D108BD9-81ED-4DB2-BD59-A6C34878D82A}">
                    <a16:rowId xmlns:a16="http://schemas.microsoft.com/office/drawing/2014/main" val="4135413859"/>
                  </a:ext>
                </a:extLst>
              </a:tr>
              <a:tr h="380274">
                <a:tc>
                  <a:txBody>
                    <a:bodyPr/>
                    <a:lstStyle/>
                    <a:p>
                      <a:pPr algn="ctr"/>
                      <a:r>
                        <a:rPr lang="en-IN" dirty="0">
                          <a:latin typeface="Times New Roman" panose="02020603050405020304" pitchFamily="18" charset="0"/>
                          <a:cs typeface="Times New Roman" panose="02020603050405020304" pitchFamily="18" charset="0"/>
                        </a:rPr>
                        <a:t>5 Years</a:t>
                      </a:r>
                    </a:p>
                  </a:txBody>
                  <a:tcPr/>
                </a:tc>
                <a:tc>
                  <a:txBody>
                    <a:bodyPr/>
                    <a:lstStyle/>
                    <a:p>
                      <a:pPr algn="ctr"/>
                      <a:r>
                        <a:rPr lang="en-IN" dirty="0">
                          <a:latin typeface="Times New Roman" panose="02020603050405020304" pitchFamily="18" charset="0"/>
                          <a:cs typeface="Times New Roman" panose="02020603050405020304" pitchFamily="18" charset="0"/>
                        </a:rPr>
                        <a:t>3.50%</a:t>
                      </a:r>
                    </a:p>
                  </a:txBody>
                  <a:tcPr/>
                </a:tc>
                <a:extLst>
                  <a:ext uri="{0D108BD9-81ED-4DB2-BD59-A6C34878D82A}">
                    <a16:rowId xmlns:a16="http://schemas.microsoft.com/office/drawing/2014/main" val="3989396953"/>
                  </a:ext>
                </a:extLst>
              </a:tr>
              <a:tr h="380274">
                <a:tc>
                  <a:txBody>
                    <a:bodyPr/>
                    <a:lstStyle/>
                    <a:p>
                      <a:pPr algn="ctr"/>
                      <a:r>
                        <a:rPr lang="en-IN" dirty="0">
                          <a:latin typeface="Times New Roman" panose="02020603050405020304" pitchFamily="18" charset="0"/>
                          <a:cs typeface="Times New Roman" panose="02020603050405020304" pitchFamily="18" charset="0"/>
                        </a:rPr>
                        <a:t>3 Years</a:t>
                      </a:r>
                    </a:p>
                  </a:txBody>
                  <a:tcPr/>
                </a:tc>
                <a:tc>
                  <a:txBody>
                    <a:bodyPr/>
                    <a:lstStyle/>
                    <a:p>
                      <a:pPr algn="ctr"/>
                      <a:r>
                        <a:rPr lang="en-IN" dirty="0">
                          <a:latin typeface="Times New Roman" panose="02020603050405020304" pitchFamily="18" charset="0"/>
                          <a:cs typeface="Times New Roman" panose="02020603050405020304" pitchFamily="18" charset="0"/>
                        </a:rPr>
                        <a:t>2.98%</a:t>
                      </a:r>
                    </a:p>
                  </a:txBody>
                  <a:tcPr/>
                </a:tc>
                <a:extLst>
                  <a:ext uri="{0D108BD9-81ED-4DB2-BD59-A6C34878D82A}">
                    <a16:rowId xmlns:a16="http://schemas.microsoft.com/office/drawing/2014/main" val="2559455316"/>
                  </a:ext>
                </a:extLst>
              </a:tr>
              <a:tr h="380274">
                <a:tc>
                  <a:txBody>
                    <a:bodyPr/>
                    <a:lstStyle/>
                    <a:p>
                      <a:pPr algn="ctr"/>
                      <a:r>
                        <a:rPr lang="en-IN" dirty="0">
                          <a:latin typeface="Times New Roman" panose="02020603050405020304" pitchFamily="18" charset="0"/>
                          <a:cs typeface="Times New Roman" panose="02020603050405020304" pitchFamily="18" charset="0"/>
                        </a:rPr>
                        <a:t>Latest</a:t>
                      </a:r>
                    </a:p>
                  </a:txBody>
                  <a:tcPr/>
                </a:tc>
                <a:tc>
                  <a:txBody>
                    <a:bodyPr/>
                    <a:lstStyle/>
                    <a:p>
                      <a:pPr algn="ctr"/>
                      <a:r>
                        <a:rPr lang="en-IN" dirty="0">
                          <a:latin typeface="Times New Roman" panose="02020603050405020304" pitchFamily="18" charset="0"/>
                          <a:cs typeface="Times New Roman" panose="02020603050405020304" pitchFamily="18" charset="0"/>
                        </a:rPr>
                        <a:t>2.47%</a:t>
                      </a:r>
                    </a:p>
                  </a:txBody>
                  <a:tcPr/>
                </a:tc>
                <a:extLst>
                  <a:ext uri="{0D108BD9-81ED-4DB2-BD59-A6C34878D82A}">
                    <a16:rowId xmlns:a16="http://schemas.microsoft.com/office/drawing/2014/main" val="1945584401"/>
                  </a:ext>
                </a:extLst>
              </a:tr>
            </a:tbl>
          </a:graphicData>
        </a:graphic>
      </p:graphicFrame>
      <p:graphicFrame>
        <p:nvGraphicFramePr>
          <p:cNvPr id="8" name="Chart 7">
            <a:extLst>
              <a:ext uri="{FF2B5EF4-FFF2-40B4-BE49-F238E27FC236}">
                <a16:creationId xmlns:a16="http://schemas.microsoft.com/office/drawing/2014/main" id="{90BEBC12-A0FC-903D-0ACE-19ECF1F6C44E}"/>
              </a:ext>
            </a:extLst>
          </p:cNvPr>
          <p:cNvGraphicFramePr>
            <a:graphicFrameLocks/>
          </p:cNvGraphicFramePr>
          <p:nvPr>
            <p:extLst>
              <p:ext uri="{D42A27DB-BD31-4B8C-83A1-F6EECF244321}">
                <p14:modId xmlns:p14="http://schemas.microsoft.com/office/powerpoint/2010/main" val="305024636"/>
              </p:ext>
            </p:extLst>
          </p:nvPr>
        </p:nvGraphicFramePr>
        <p:xfrm>
          <a:off x="6262166" y="3573822"/>
          <a:ext cx="5843841" cy="29576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04680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40E1F9-74AA-F445-94AB-37098E512223}"/>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Valuation</a:t>
            </a:r>
          </a:p>
        </p:txBody>
      </p:sp>
      <p:graphicFrame>
        <p:nvGraphicFramePr>
          <p:cNvPr id="5" name="Content Placeholder 4">
            <a:extLst>
              <a:ext uri="{FF2B5EF4-FFF2-40B4-BE49-F238E27FC236}">
                <a16:creationId xmlns:a16="http://schemas.microsoft.com/office/drawing/2014/main" id="{106C80F7-5A86-4A26-07BC-42047ECB2371}"/>
              </a:ext>
            </a:extLst>
          </p:cNvPr>
          <p:cNvGraphicFramePr>
            <a:graphicFrameLocks/>
          </p:cNvGraphicFramePr>
          <p:nvPr>
            <p:extLst>
              <p:ext uri="{D42A27DB-BD31-4B8C-83A1-F6EECF244321}">
                <p14:modId xmlns:p14="http://schemas.microsoft.com/office/powerpoint/2010/main" val="2135161877"/>
              </p:ext>
            </p:extLst>
          </p:nvPr>
        </p:nvGraphicFramePr>
        <p:xfrm>
          <a:off x="1014470" y="2687320"/>
          <a:ext cx="10515599" cy="1483360"/>
        </p:xfrm>
        <a:graphic>
          <a:graphicData uri="http://schemas.openxmlformats.org/drawingml/2006/table">
            <a:tbl>
              <a:tblPr firstRow="1" bandRow="1">
                <a:tableStyleId>{5940675A-B579-460E-94D1-54222C63F5DA}</a:tableStyleId>
              </a:tblPr>
              <a:tblGrid>
                <a:gridCol w="1111420">
                  <a:extLst>
                    <a:ext uri="{9D8B030D-6E8A-4147-A177-3AD203B41FA5}">
                      <a16:colId xmlns:a16="http://schemas.microsoft.com/office/drawing/2014/main" val="4134508395"/>
                    </a:ext>
                  </a:extLst>
                </a:gridCol>
                <a:gridCol w="9404179">
                  <a:extLst>
                    <a:ext uri="{9D8B030D-6E8A-4147-A177-3AD203B41FA5}">
                      <a16:colId xmlns:a16="http://schemas.microsoft.com/office/drawing/2014/main" val="1662289238"/>
                    </a:ext>
                  </a:extLst>
                </a:gridCol>
              </a:tblGrid>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1.</a:t>
                      </a:r>
                    </a:p>
                  </a:txBody>
                  <a:tcPr marL="111856" marR="111856">
                    <a:noFill/>
                  </a:tcPr>
                </a:tc>
                <a:tc>
                  <a:txBody>
                    <a:bodyPr/>
                    <a:lstStyle/>
                    <a:p>
                      <a:pPr algn="l"/>
                      <a:r>
                        <a:rPr lang="en-IN" dirty="0">
                          <a:solidFill>
                            <a:schemeClr val="tx1"/>
                          </a:solidFill>
                          <a:latin typeface="Times New Roman" panose="02020603050405020304" pitchFamily="18" charset="0"/>
                          <a:cs typeface="Times New Roman" panose="02020603050405020304" pitchFamily="18" charset="0"/>
                        </a:rPr>
                        <a:t>Context</a:t>
                      </a:r>
                    </a:p>
                  </a:txBody>
                  <a:tcPr marL="111856" marR="111856">
                    <a:noFill/>
                  </a:tcPr>
                </a:tc>
                <a:extLst>
                  <a:ext uri="{0D108BD9-81ED-4DB2-BD59-A6C34878D82A}">
                    <a16:rowId xmlns:a16="http://schemas.microsoft.com/office/drawing/2014/main" val="999418648"/>
                  </a:ext>
                </a:extLst>
              </a:tr>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2.</a:t>
                      </a:r>
                    </a:p>
                  </a:txBody>
                  <a:tcPr marL="111856" marR="111856">
                    <a:noFill/>
                  </a:tcPr>
                </a:tc>
                <a:tc>
                  <a:txBody>
                    <a:bodyPr/>
                    <a:lstStyle/>
                    <a:p>
                      <a:pPr algn="l"/>
                      <a:r>
                        <a:rPr lang="en-IN" dirty="0">
                          <a:solidFill>
                            <a:schemeClr val="tx1"/>
                          </a:solidFill>
                          <a:latin typeface="Times New Roman" panose="02020603050405020304" pitchFamily="18" charset="0"/>
                          <a:cs typeface="Times New Roman" panose="02020603050405020304" pitchFamily="18" charset="0"/>
                        </a:rPr>
                        <a:t>Approach &amp; Methodology</a:t>
                      </a:r>
                    </a:p>
                  </a:txBody>
                  <a:tcPr marL="111856" marR="111856">
                    <a:noFill/>
                  </a:tcPr>
                </a:tc>
                <a:extLst>
                  <a:ext uri="{0D108BD9-81ED-4DB2-BD59-A6C34878D82A}">
                    <a16:rowId xmlns:a16="http://schemas.microsoft.com/office/drawing/2014/main" val="975871349"/>
                  </a:ext>
                </a:extLst>
              </a:tr>
              <a:tr h="370840">
                <a:tc>
                  <a:txBody>
                    <a:bodyPr/>
                    <a:lstStyle/>
                    <a:p>
                      <a:pPr algn="ctr"/>
                      <a:r>
                        <a:rPr lang="en-IN" dirty="0">
                          <a:solidFill>
                            <a:schemeClr val="bg1"/>
                          </a:solidFill>
                          <a:latin typeface="Times New Roman" panose="02020603050405020304" pitchFamily="18" charset="0"/>
                          <a:cs typeface="Times New Roman" panose="02020603050405020304" pitchFamily="18" charset="0"/>
                        </a:rPr>
                        <a:t>3.</a:t>
                      </a:r>
                    </a:p>
                  </a:txBody>
                  <a:tcPr marL="111856" marR="111856">
                    <a:solidFill>
                      <a:srgbClr val="002060"/>
                    </a:solidFill>
                  </a:tcPr>
                </a:tc>
                <a:tc>
                  <a:txBody>
                    <a:bodyPr/>
                    <a:lstStyle/>
                    <a:p>
                      <a:pPr algn="l"/>
                      <a:r>
                        <a:rPr lang="en-IN" dirty="0">
                          <a:solidFill>
                            <a:schemeClr val="bg1"/>
                          </a:solidFill>
                          <a:latin typeface="Times New Roman" panose="02020603050405020304" pitchFamily="18" charset="0"/>
                          <a:cs typeface="Times New Roman" panose="02020603050405020304" pitchFamily="18" charset="0"/>
                        </a:rPr>
                        <a:t>Valuation</a:t>
                      </a:r>
                    </a:p>
                  </a:txBody>
                  <a:tcPr marL="111856" marR="111856">
                    <a:solidFill>
                      <a:srgbClr val="002060"/>
                    </a:solidFill>
                  </a:tcPr>
                </a:tc>
                <a:extLst>
                  <a:ext uri="{0D108BD9-81ED-4DB2-BD59-A6C34878D82A}">
                    <a16:rowId xmlns:a16="http://schemas.microsoft.com/office/drawing/2014/main" val="1650954812"/>
                  </a:ext>
                </a:extLst>
              </a:tr>
              <a:tr h="370840">
                <a:tc>
                  <a:txBody>
                    <a:bodyPr/>
                    <a:lstStyle/>
                    <a:p>
                      <a:pPr algn="ctr"/>
                      <a:r>
                        <a:rPr lang="en-IN" dirty="0">
                          <a:latin typeface="Times New Roman" panose="02020603050405020304" pitchFamily="18" charset="0"/>
                          <a:cs typeface="Times New Roman" panose="02020603050405020304" pitchFamily="18" charset="0"/>
                        </a:rPr>
                        <a:t>4.</a:t>
                      </a:r>
                    </a:p>
                  </a:txBody>
                  <a:tcPr marL="111856" marR="111856"/>
                </a:tc>
                <a:tc>
                  <a:txBody>
                    <a:bodyPr/>
                    <a:lstStyle/>
                    <a:p>
                      <a:pPr algn="l"/>
                      <a:r>
                        <a:rPr lang="en-IN" dirty="0">
                          <a:latin typeface="Times New Roman" panose="02020603050405020304" pitchFamily="18" charset="0"/>
                          <a:cs typeface="Times New Roman" panose="02020603050405020304" pitchFamily="18" charset="0"/>
                        </a:rPr>
                        <a:t>Sources &amp; Disclaimer</a:t>
                      </a:r>
                    </a:p>
                  </a:txBody>
                  <a:tcPr marL="111856" marR="111856"/>
                </a:tc>
                <a:extLst>
                  <a:ext uri="{0D108BD9-81ED-4DB2-BD59-A6C34878D82A}">
                    <a16:rowId xmlns:a16="http://schemas.microsoft.com/office/drawing/2014/main" val="1427475600"/>
                  </a:ext>
                </a:extLst>
              </a:tr>
            </a:tbl>
          </a:graphicData>
        </a:graphic>
      </p:graphicFrame>
    </p:spTree>
    <p:extLst>
      <p:ext uri="{BB962C8B-B14F-4D97-AF65-F5344CB8AC3E}">
        <p14:creationId xmlns:p14="http://schemas.microsoft.com/office/powerpoint/2010/main" val="2062413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01484D-D1FD-41DF-F4C4-9E246EA4AB90}"/>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Valuation</a:t>
            </a:r>
          </a:p>
        </p:txBody>
      </p:sp>
      <p:pic>
        <p:nvPicPr>
          <p:cNvPr id="3" name="Picture 2">
            <a:extLst>
              <a:ext uri="{FF2B5EF4-FFF2-40B4-BE49-F238E27FC236}">
                <a16:creationId xmlns:a16="http://schemas.microsoft.com/office/drawing/2014/main" id="{BA63C384-8A14-33C9-D9D4-71BAB302A352}"/>
              </a:ext>
            </a:extLst>
          </p:cNvPr>
          <p:cNvPicPr>
            <a:picLocks noChangeAspect="1"/>
          </p:cNvPicPr>
          <p:nvPr/>
        </p:nvPicPr>
        <p:blipFill>
          <a:blip r:embed="rId2"/>
          <a:stretch>
            <a:fillRect/>
          </a:stretch>
        </p:blipFill>
        <p:spPr>
          <a:xfrm>
            <a:off x="0" y="1230854"/>
            <a:ext cx="12192000" cy="4396292"/>
          </a:xfrm>
          <a:prstGeom prst="rect">
            <a:avLst/>
          </a:prstGeom>
        </p:spPr>
      </p:pic>
    </p:spTree>
    <p:extLst>
      <p:ext uri="{BB962C8B-B14F-4D97-AF65-F5344CB8AC3E}">
        <p14:creationId xmlns:p14="http://schemas.microsoft.com/office/powerpoint/2010/main" val="315316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00EF91-0A53-AA90-80EA-A32CF0B64D19}"/>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Sources &amp; Disclaimer</a:t>
            </a:r>
          </a:p>
        </p:txBody>
      </p:sp>
      <p:graphicFrame>
        <p:nvGraphicFramePr>
          <p:cNvPr id="5" name="Content Placeholder 4">
            <a:extLst>
              <a:ext uri="{FF2B5EF4-FFF2-40B4-BE49-F238E27FC236}">
                <a16:creationId xmlns:a16="http://schemas.microsoft.com/office/drawing/2014/main" id="{67E32FD7-1B71-F33B-24D2-19B60AB94DE3}"/>
              </a:ext>
            </a:extLst>
          </p:cNvPr>
          <p:cNvGraphicFramePr>
            <a:graphicFrameLocks/>
          </p:cNvGraphicFramePr>
          <p:nvPr>
            <p:extLst>
              <p:ext uri="{D42A27DB-BD31-4B8C-83A1-F6EECF244321}">
                <p14:modId xmlns:p14="http://schemas.microsoft.com/office/powerpoint/2010/main" val="2149371056"/>
              </p:ext>
            </p:extLst>
          </p:nvPr>
        </p:nvGraphicFramePr>
        <p:xfrm>
          <a:off x="1014470" y="2687320"/>
          <a:ext cx="10515599" cy="1483360"/>
        </p:xfrm>
        <a:graphic>
          <a:graphicData uri="http://schemas.openxmlformats.org/drawingml/2006/table">
            <a:tbl>
              <a:tblPr firstRow="1" bandRow="1">
                <a:tableStyleId>{5940675A-B579-460E-94D1-54222C63F5DA}</a:tableStyleId>
              </a:tblPr>
              <a:tblGrid>
                <a:gridCol w="1111420">
                  <a:extLst>
                    <a:ext uri="{9D8B030D-6E8A-4147-A177-3AD203B41FA5}">
                      <a16:colId xmlns:a16="http://schemas.microsoft.com/office/drawing/2014/main" val="4134508395"/>
                    </a:ext>
                  </a:extLst>
                </a:gridCol>
                <a:gridCol w="9404179">
                  <a:extLst>
                    <a:ext uri="{9D8B030D-6E8A-4147-A177-3AD203B41FA5}">
                      <a16:colId xmlns:a16="http://schemas.microsoft.com/office/drawing/2014/main" val="1662289238"/>
                    </a:ext>
                  </a:extLst>
                </a:gridCol>
              </a:tblGrid>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1.</a:t>
                      </a:r>
                    </a:p>
                  </a:txBody>
                  <a:tcPr marL="111856" marR="111856">
                    <a:noFill/>
                  </a:tcPr>
                </a:tc>
                <a:tc>
                  <a:txBody>
                    <a:bodyPr/>
                    <a:lstStyle/>
                    <a:p>
                      <a:pPr algn="l"/>
                      <a:r>
                        <a:rPr lang="en-IN" dirty="0">
                          <a:solidFill>
                            <a:schemeClr val="tx1"/>
                          </a:solidFill>
                          <a:latin typeface="Times New Roman" panose="02020603050405020304" pitchFamily="18" charset="0"/>
                          <a:cs typeface="Times New Roman" panose="02020603050405020304" pitchFamily="18" charset="0"/>
                        </a:rPr>
                        <a:t>Context</a:t>
                      </a:r>
                    </a:p>
                  </a:txBody>
                  <a:tcPr marL="111856" marR="111856">
                    <a:noFill/>
                  </a:tcPr>
                </a:tc>
                <a:extLst>
                  <a:ext uri="{0D108BD9-81ED-4DB2-BD59-A6C34878D82A}">
                    <a16:rowId xmlns:a16="http://schemas.microsoft.com/office/drawing/2014/main" val="999418648"/>
                  </a:ext>
                </a:extLst>
              </a:tr>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2.</a:t>
                      </a:r>
                    </a:p>
                  </a:txBody>
                  <a:tcPr marL="111856" marR="111856">
                    <a:noFill/>
                  </a:tcPr>
                </a:tc>
                <a:tc>
                  <a:txBody>
                    <a:bodyPr/>
                    <a:lstStyle/>
                    <a:p>
                      <a:pPr algn="l"/>
                      <a:r>
                        <a:rPr lang="en-IN" dirty="0">
                          <a:solidFill>
                            <a:schemeClr val="tx1"/>
                          </a:solidFill>
                          <a:latin typeface="Times New Roman" panose="02020603050405020304" pitchFamily="18" charset="0"/>
                          <a:cs typeface="Times New Roman" panose="02020603050405020304" pitchFamily="18" charset="0"/>
                        </a:rPr>
                        <a:t>Approach &amp; Methodology</a:t>
                      </a:r>
                    </a:p>
                  </a:txBody>
                  <a:tcPr marL="111856" marR="111856">
                    <a:noFill/>
                  </a:tcPr>
                </a:tc>
                <a:extLst>
                  <a:ext uri="{0D108BD9-81ED-4DB2-BD59-A6C34878D82A}">
                    <a16:rowId xmlns:a16="http://schemas.microsoft.com/office/drawing/2014/main" val="975871349"/>
                  </a:ext>
                </a:extLst>
              </a:tr>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3.</a:t>
                      </a:r>
                    </a:p>
                  </a:txBody>
                  <a:tcPr marL="111856" marR="111856">
                    <a:noFill/>
                  </a:tcPr>
                </a:tc>
                <a:tc>
                  <a:txBody>
                    <a:bodyPr/>
                    <a:lstStyle/>
                    <a:p>
                      <a:pPr algn="l"/>
                      <a:r>
                        <a:rPr lang="en-IN" dirty="0">
                          <a:solidFill>
                            <a:schemeClr val="tx1"/>
                          </a:solidFill>
                          <a:latin typeface="Times New Roman" panose="02020603050405020304" pitchFamily="18" charset="0"/>
                          <a:cs typeface="Times New Roman" panose="02020603050405020304" pitchFamily="18" charset="0"/>
                        </a:rPr>
                        <a:t>Valuation</a:t>
                      </a:r>
                    </a:p>
                  </a:txBody>
                  <a:tcPr marL="111856" marR="111856">
                    <a:noFill/>
                  </a:tcPr>
                </a:tc>
                <a:extLst>
                  <a:ext uri="{0D108BD9-81ED-4DB2-BD59-A6C34878D82A}">
                    <a16:rowId xmlns:a16="http://schemas.microsoft.com/office/drawing/2014/main" val="1650954812"/>
                  </a:ext>
                </a:extLst>
              </a:tr>
              <a:tr h="370840">
                <a:tc>
                  <a:txBody>
                    <a:bodyPr/>
                    <a:lstStyle/>
                    <a:p>
                      <a:pPr algn="ctr"/>
                      <a:r>
                        <a:rPr lang="en-IN" dirty="0">
                          <a:solidFill>
                            <a:schemeClr val="bg1"/>
                          </a:solidFill>
                          <a:latin typeface="Times New Roman" panose="02020603050405020304" pitchFamily="18" charset="0"/>
                          <a:cs typeface="Times New Roman" panose="02020603050405020304" pitchFamily="18" charset="0"/>
                        </a:rPr>
                        <a:t>4.</a:t>
                      </a:r>
                    </a:p>
                  </a:txBody>
                  <a:tcPr marL="111856" marR="111856">
                    <a:solidFill>
                      <a:srgbClr val="002060"/>
                    </a:solidFill>
                  </a:tcPr>
                </a:tc>
                <a:tc>
                  <a:txBody>
                    <a:bodyPr/>
                    <a:lstStyle/>
                    <a:p>
                      <a:pPr algn="l"/>
                      <a:r>
                        <a:rPr lang="en-IN" dirty="0">
                          <a:solidFill>
                            <a:schemeClr val="bg1"/>
                          </a:solidFill>
                          <a:latin typeface="Times New Roman" panose="02020603050405020304" pitchFamily="18" charset="0"/>
                          <a:cs typeface="Times New Roman" panose="02020603050405020304" pitchFamily="18" charset="0"/>
                        </a:rPr>
                        <a:t>Sources &amp; Disclaimer</a:t>
                      </a:r>
                    </a:p>
                  </a:txBody>
                  <a:tcPr marL="111856" marR="111856">
                    <a:solidFill>
                      <a:srgbClr val="002060"/>
                    </a:solidFill>
                  </a:tcPr>
                </a:tc>
                <a:extLst>
                  <a:ext uri="{0D108BD9-81ED-4DB2-BD59-A6C34878D82A}">
                    <a16:rowId xmlns:a16="http://schemas.microsoft.com/office/drawing/2014/main" val="1427475600"/>
                  </a:ext>
                </a:extLst>
              </a:tr>
            </a:tbl>
          </a:graphicData>
        </a:graphic>
      </p:graphicFrame>
    </p:spTree>
    <p:extLst>
      <p:ext uri="{BB962C8B-B14F-4D97-AF65-F5344CB8AC3E}">
        <p14:creationId xmlns:p14="http://schemas.microsoft.com/office/powerpoint/2010/main" val="188542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AB918-815F-C1FD-DA5F-AF142CCB79AF}"/>
              </a:ext>
            </a:extLst>
          </p:cNvPr>
          <p:cNvSpPr>
            <a:spLocks noGrp="1"/>
          </p:cNvSpPr>
          <p:nvPr>
            <p:ph idx="1"/>
          </p:nvPr>
        </p:nvSpPr>
        <p:spPr>
          <a:xfrm>
            <a:off x="276339" y="1340883"/>
            <a:ext cx="5507516" cy="5026866"/>
          </a:xfrm>
        </p:spPr>
        <p:txBody>
          <a:bodyPr>
            <a:normAutofit/>
          </a:bodyPr>
          <a:lstStyle/>
          <a:p>
            <a:r>
              <a:rPr lang="en-IN" sz="1800" b="1" dirty="0">
                <a:solidFill>
                  <a:srgbClr val="002060"/>
                </a:solidFill>
                <a:latin typeface="Times New Roman" panose="02020603050405020304" pitchFamily="18" charset="0"/>
                <a:cs typeface="Times New Roman" panose="02020603050405020304" pitchFamily="18" charset="0"/>
              </a:rPr>
              <a:t>4.1 References &amp; Sources</a:t>
            </a:r>
          </a:p>
          <a:p>
            <a:pPr marL="0" indent="0">
              <a:lnSpc>
                <a:spcPct val="150000"/>
              </a:lnSpc>
              <a:buNone/>
            </a:pPr>
            <a:r>
              <a:rPr lang="en-IN" sz="2000" i="1" dirty="0">
                <a:solidFill>
                  <a:srgbClr val="00206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https://www.investing.com/</a:t>
            </a:r>
            <a:endParaRPr lang="en-IN" sz="2000" i="1" dirty="0">
              <a:solidFill>
                <a:srgbClr val="002060"/>
              </a:solidFill>
              <a:latin typeface="Times New Roman" panose="02020603050405020304" pitchFamily="18" charset="0"/>
              <a:cs typeface="Times New Roman" panose="02020603050405020304" pitchFamily="18" charset="0"/>
            </a:endParaRPr>
          </a:p>
          <a:p>
            <a:pPr marL="0" indent="0">
              <a:lnSpc>
                <a:spcPct val="150000"/>
              </a:lnSpc>
              <a:buNone/>
            </a:pPr>
            <a:r>
              <a:rPr lang="en-IN" sz="2000" i="1" dirty="0">
                <a:solidFill>
                  <a:srgbClr val="00206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http://www.market-risk-premia.com/market-risk-premia.html</a:t>
            </a:r>
            <a:endParaRPr lang="en-IN" sz="2000" i="1" dirty="0">
              <a:solidFill>
                <a:srgbClr val="002060"/>
              </a:solidFill>
              <a:latin typeface="Times New Roman" panose="02020603050405020304" pitchFamily="18" charset="0"/>
              <a:cs typeface="Times New Roman" panose="02020603050405020304" pitchFamily="18" charset="0"/>
            </a:endParaRPr>
          </a:p>
          <a:p>
            <a:pPr marL="0" indent="0">
              <a:lnSpc>
                <a:spcPct val="150000"/>
              </a:lnSpc>
              <a:buNone/>
            </a:pPr>
            <a:r>
              <a:rPr lang="en-IN" sz="2000" i="1" dirty="0">
                <a:solidFill>
                  <a:srgbClr val="00206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https://pages.stern.nyu.edu/~adamodar/New_Home_Page/home.htm</a:t>
            </a:r>
            <a:endParaRPr lang="en-IN" sz="2000" i="1"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2000" i="1"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2000" i="1"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2000" dirty="0">
              <a:solidFill>
                <a:srgbClr val="00206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0531AA0-13B5-A8E5-D7AA-BE682F026A5A}"/>
              </a:ext>
            </a:extLst>
          </p:cNvPr>
          <p:cNvSpPr/>
          <p:nvPr/>
        </p:nvSpPr>
        <p:spPr>
          <a:xfrm>
            <a:off x="0" y="0"/>
            <a:ext cx="12192000" cy="1002535"/>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dirty="0">
                <a:latin typeface="Times New Roman" panose="02020603050405020304" pitchFamily="18" charset="0"/>
                <a:cs typeface="Times New Roman" panose="02020603050405020304" pitchFamily="18" charset="0"/>
              </a:rPr>
              <a:t>Sources &amp; Disclaimer</a:t>
            </a:r>
          </a:p>
        </p:txBody>
      </p:sp>
      <p:sp>
        <p:nvSpPr>
          <p:cNvPr id="5" name="Rectangle 4">
            <a:extLst>
              <a:ext uri="{FF2B5EF4-FFF2-40B4-BE49-F238E27FC236}">
                <a16:creationId xmlns:a16="http://schemas.microsoft.com/office/drawing/2014/main" id="{7BEB7966-3B2B-80AA-D8E2-F2B26FA24810}"/>
              </a:ext>
            </a:extLst>
          </p:cNvPr>
          <p:cNvSpPr/>
          <p:nvPr/>
        </p:nvSpPr>
        <p:spPr>
          <a:xfrm>
            <a:off x="154236" y="1156771"/>
            <a:ext cx="5794872" cy="5398265"/>
          </a:xfrm>
          <a:prstGeom prst="rect">
            <a:avLst/>
          </a:prstGeom>
          <a:noFill/>
          <a:ln>
            <a:solidFill>
              <a:srgbClr val="00206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A2A7CD8-3637-1995-8B78-703049F9485E}"/>
              </a:ext>
            </a:extLst>
          </p:cNvPr>
          <p:cNvSpPr txBox="1"/>
          <p:nvPr/>
        </p:nvSpPr>
        <p:spPr>
          <a:xfrm>
            <a:off x="6193314" y="1340883"/>
            <a:ext cx="5844450" cy="5047536"/>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4.2 Disclaimer</a:t>
            </a:r>
          </a:p>
          <a:p>
            <a:pPr marL="0" indent="0">
              <a:buNone/>
            </a:pPr>
            <a:r>
              <a:rPr lang="en-IN" sz="1800" i="1" dirty="0">
                <a:latin typeface="Times New Roman" panose="02020603050405020304" pitchFamily="18" charset="0"/>
                <a:cs typeface="Times New Roman" panose="02020603050405020304" pitchFamily="18" charset="0"/>
              </a:rPr>
              <a:t>This information is for educational purposes only and is not an investment/disinvestment recommendation not to be representative of professional expertise, but to be used as a forum for opening the discussions around trading. All examples and analyses used herein are for illustration purposes only, and of personal opinions of the author. All examples and analyses are intended for these purposes and should not be considered as a piece of specific investment advice. The risk of loss in trading can be substantial. Users of this paper must consider all the relevant risk factors including their financial situation before trading. You understand &amp; acknowledge that there is a very high degree of risk involved in trading securities. The author assumes no responsibility or liability for your trading &amp; investment results. Further, it should not be assumed that the methods/techniques/indicators presented in this deck will be profitable or that they will not result in losses.</a:t>
            </a:r>
          </a:p>
        </p:txBody>
      </p:sp>
      <p:sp>
        <p:nvSpPr>
          <p:cNvPr id="9" name="Rectangle 8">
            <a:extLst>
              <a:ext uri="{FF2B5EF4-FFF2-40B4-BE49-F238E27FC236}">
                <a16:creationId xmlns:a16="http://schemas.microsoft.com/office/drawing/2014/main" id="{3F56EA10-D378-E954-E5AE-9B515F483F7E}"/>
              </a:ext>
            </a:extLst>
          </p:cNvPr>
          <p:cNvSpPr/>
          <p:nvPr/>
        </p:nvSpPr>
        <p:spPr>
          <a:xfrm>
            <a:off x="6193312" y="1155183"/>
            <a:ext cx="5844452" cy="5398265"/>
          </a:xfrm>
          <a:prstGeom prst="rect">
            <a:avLst/>
          </a:prstGeom>
          <a:noFill/>
          <a:ln>
            <a:solidFill>
              <a:srgbClr val="00206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68709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48FB-1A9A-949F-379A-862C2020EEDB}"/>
              </a:ext>
            </a:extLst>
          </p:cNvPr>
          <p:cNvSpPr>
            <a:spLocks noGrp="1"/>
          </p:cNvSpPr>
          <p:nvPr>
            <p:ph type="title"/>
          </p:nvPr>
        </p:nvSpPr>
        <p:spPr>
          <a:xfrm>
            <a:off x="1558684" y="2416365"/>
            <a:ext cx="8675986" cy="2585293"/>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Open to listening to any feedback or suggestions to further improve the findings or the approach followed in the report</a:t>
            </a:r>
            <a:br>
              <a:rPr lang="en-IN"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70892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343</TotalTime>
  <Words>1359</Words>
  <Application>Microsoft Office PowerPoint</Application>
  <PresentationFormat>Widescreen</PresentationFormat>
  <Paragraphs>155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Valuing S&amp;P 500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Open to listening to any feedback or suggestions to further improve the findings or the approach followed in the report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Shashwat Srivastava</dc:creator>
  <cp:lastModifiedBy>Devesh vyas</cp:lastModifiedBy>
  <cp:revision>8</cp:revision>
  <dcterms:created xsi:type="dcterms:W3CDTF">2024-08-22T16:22:10Z</dcterms:created>
  <dcterms:modified xsi:type="dcterms:W3CDTF">2024-08-24T06:22:04Z</dcterms:modified>
</cp:coreProperties>
</file>